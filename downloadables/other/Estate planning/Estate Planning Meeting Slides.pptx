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5" d="100"/>
          <a:sy n="95" d="100"/>
        </p:scale>
        <p:origin x="17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viewProps" Target="viewProp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notesMaster" Target="notesMasters/notesMaster1.xml"/><Relationship Id="rId40"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165838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D33"/>
        </a:solidFill>
        <a:effectLst/>
      </p:bgPr>
    </p:bg>
    <p:spTree>
      <p:nvGrpSpPr>
        <p:cNvPr id="1" name=""/>
        <p:cNvGrpSpPr/>
        <p:nvPr/>
      </p:nvGrpSpPr>
      <p:grpSpPr>
        <a:xfrm>
          <a:off x="0" y="0"/>
          <a:ext cx="0" cy="0"/>
          <a:chOff x="0" y="0"/>
          <a:chExt cx="0" cy="0"/>
        </a:xfrm>
      </p:grpSpPr>
      <p:sp>
        <p:nvSpPr>
          <p:cNvPr id="2" name="Shape 0"/>
          <p:cNvSpPr/>
          <p:nvPr/>
        </p:nvSpPr>
        <p:spPr>
          <a:xfrm>
            <a:off x="9265615" y="-1645920"/>
            <a:ext cx="4754880" cy="4754880"/>
          </a:xfrm>
          <a:prstGeom prst="ellipse">
            <a:avLst/>
          </a:prstGeom>
          <a:solidFill>
            <a:srgbClr val="1B2A4A">
              <a:alpha val="65000"/>
            </a:srgbClr>
          </a:solidFill>
          <a:ln/>
        </p:spPr>
        <p:txBody>
          <a:bodyPr/>
          <a:lstStyle/>
          <a:p>
            <a:endParaRPr lang="en-AU"/>
          </a:p>
        </p:txBody>
      </p:sp>
      <p:sp>
        <p:nvSpPr>
          <p:cNvPr id="3" name="Shape 1"/>
          <p:cNvSpPr/>
          <p:nvPr/>
        </p:nvSpPr>
        <p:spPr>
          <a:xfrm>
            <a:off x="-2011680" y="4480560"/>
            <a:ext cx="4023360" cy="4023360"/>
          </a:xfrm>
          <a:prstGeom prst="ellipse">
            <a:avLst/>
          </a:prstGeom>
          <a:solidFill>
            <a:srgbClr val="1B2A4A">
              <a:alpha val="65000"/>
            </a:srgbClr>
          </a:solidFill>
          <a:ln/>
        </p:spPr>
        <p:txBody>
          <a:bodyPr/>
          <a:lstStyle/>
          <a:p>
            <a:endParaRPr lang="en-AU"/>
          </a:p>
        </p:txBody>
      </p:sp>
      <p:sp>
        <p:nvSpPr>
          <p:cNvPr id="4" name="Shape 2"/>
          <p:cNvSpPr/>
          <p:nvPr/>
        </p:nvSpPr>
        <p:spPr>
          <a:xfrm>
            <a:off x="548640" y="2560320"/>
            <a:ext cx="640080" cy="91440"/>
          </a:xfrm>
          <a:prstGeom prst="rect">
            <a:avLst/>
          </a:prstGeom>
          <a:solidFill>
            <a:srgbClr val="AD8A52"/>
          </a:solidFill>
          <a:ln/>
        </p:spPr>
        <p:txBody>
          <a:bodyPr/>
          <a:lstStyle/>
          <a:p>
            <a:endParaRPr lang="en-AU"/>
          </a:p>
        </p:txBody>
      </p:sp>
      <p:sp>
        <p:nvSpPr>
          <p:cNvPr id="5" name="Text 3"/>
          <p:cNvSpPr/>
          <p:nvPr/>
        </p:nvSpPr>
        <p:spPr>
          <a:xfrm>
            <a:off x="548640" y="2697480"/>
            <a:ext cx="11094415" cy="1188720"/>
          </a:xfrm>
          <a:prstGeom prst="rect">
            <a:avLst/>
          </a:prstGeom>
          <a:noFill/>
          <a:ln/>
        </p:spPr>
        <p:txBody>
          <a:bodyPr wrap="square" lIns="0" tIns="0" rIns="0" bIns="0" rtlCol="0" anchor="ctr"/>
          <a:lstStyle/>
          <a:p>
            <a:pPr marL="0" indent="0" algn="l">
              <a:buNone/>
            </a:pPr>
            <a:r>
              <a:rPr lang="en-US" sz="5400" b="1" dirty="0">
                <a:solidFill>
                  <a:srgbClr val="FFFFFF"/>
                </a:solidFill>
                <a:latin typeface="Cambria" pitchFamily="34" charset="0"/>
                <a:ea typeface="Cambria" pitchFamily="34" charset="-122"/>
                <a:cs typeface="Cambria" pitchFamily="34" charset="-120"/>
              </a:rPr>
              <a:t>Let’s chat</a:t>
            </a:r>
            <a:endParaRPr lang="en-US" sz="5400" dirty="0"/>
          </a:p>
        </p:txBody>
      </p:sp>
      <p:sp>
        <p:nvSpPr>
          <p:cNvPr id="6" name="Text 4"/>
          <p:cNvSpPr/>
          <p:nvPr/>
        </p:nvSpPr>
        <p:spPr>
          <a:xfrm>
            <a:off x="548640" y="3840480"/>
            <a:ext cx="11094415" cy="548640"/>
          </a:xfrm>
          <a:prstGeom prst="rect">
            <a:avLst/>
          </a:prstGeom>
          <a:noFill/>
          <a:ln/>
        </p:spPr>
        <p:txBody>
          <a:bodyPr wrap="square" lIns="0" tIns="0" rIns="0" bIns="0" rtlCol="0" anchor="ctr"/>
          <a:lstStyle/>
          <a:p>
            <a:pPr marL="0" indent="0" algn="l">
              <a:buNone/>
            </a:pPr>
            <a:r>
              <a:rPr lang="en-US" sz="2200" i="1" dirty="0">
                <a:solidFill>
                  <a:srgbClr val="C7AC7C"/>
                </a:solidFill>
                <a:latin typeface="Calibri" pitchFamily="34" charset="0"/>
                <a:ea typeface="Calibri" pitchFamily="34" charset="-122"/>
                <a:cs typeface="Calibri" pitchFamily="34" charset="-120"/>
              </a:rPr>
              <a:t>Estate planning</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Housekeeping</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Shape 2"/>
          <p:cNvSpPr/>
          <p:nvPr/>
        </p:nvSpPr>
        <p:spPr>
          <a:xfrm>
            <a:off x="548640" y="1325880"/>
            <a:ext cx="5318608" cy="5074920"/>
          </a:xfrm>
          <a:prstGeom prst="roundRect">
            <a:avLst>
              <a:gd name="adj" fmla="val 1441"/>
            </a:avLst>
          </a:prstGeom>
          <a:solidFill>
            <a:srgbClr val="E9EDF4"/>
          </a:solidFill>
          <a:ln/>
        </p:spPr>
        <p:txBody>
          <a:bodyPr/>
          <a:lstStyle/>
          <a:p>
            <a:endParaRPr lang="en-AU"/>
          </a:p>
        </p:txBody>
      </p:sp>
      <p:sp>
        <p:nvSpPr>
          <p:cNvPr id="5" name="Shape 3"/>
          <p:cNvSpPr/>
          <p:nvPr/>
        </p:nvSpPr>
        <p:spPr>
          <a:xfrm>
            <a:off x="6324448" y="1325880"/>
            <a:ext cx="5318608" cy="5074920"/>
          </a:xfrm>
          <a:prstGeom prst="roundRect">
            <a:avLst>
              <a:gd name="adj" fmla="val 1441"/>
            </a:avLst>
          </a:prstGeom>
          <a:solidFill>
            <a:srgbClr val="E9EDF4"/>
          </a:solidFill>
          <a:ln/>
        </p:spPr>
        <p:txBody>
          <a:bodyPr/>
          <a:lstStyle/>
          <a:p>
            <a:endParaRPr lang="en-AU"/>
          </a:p>
        </p:txBody>
      </p:sp>
      <p:sp>
        <p:nvSpPr>
          <p:cNvPr id="6" name="Text 4"/>
          <p:cNvSpPr/>
          <p:nvPr/>
        </p:nvSpPr>
        <p:spPr>
          <a:xfrm>
            <a:off x="822960"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Before we start</a:t>
            </a:r>
            <a:endParaRPr lang="en-US" sz="1600" dirty="0"/>
          </a:p>
        </p:txBody>
      </p:sp>
      <p:sp>
        <p:nvSpPr>
          <p:cNvPr id="7" name="Text 5"/>
          <p:cNvSpPr/>
          <p:nvPr/>
        </p:nvSpPr>
        <p:spPr>
          <a:xfrm>
            <a:off x="6598768"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Why full information matters</a:t>
            </a:r>
            <a:endParaRPr lang="en-US" sz="1600" dirty="0"/>
          </a:p>
        </p:txBody>
      </p:sp>
      <p:sp>
        <p:nvSpPr>
          <p:cNvPr id="8" name="Text 6"/>
          <p:cNvSpPr/>
          <p:nvPr/>
        </p:nvSpPr>
        <p:spPr>
          <a:xfrm>
            <a:off x="822960"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Cyber alert</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AML obligations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ID documents to sight</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Full names – correct spelling and pronunciation</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Intentionally ‘non-technical’ – ask if you’re curious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Non-relevant slides are skipped</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Complex estates (?)</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Feel free to ask questions at any point</a:t>
            </a:r>
            <a:endParaRPr lang="en-US" sz="1250" dirty="0"/>
          </a:p>
        </p:txBody>
      </p:sp>
      <p:sp>
        <p:nvSpPr>
          <p:cNvPr id="9" name="Text 7"/>
          <p:cNvSpPr/>
          <p:nvPr/>
        </p:nvSpPr>
        <p:spPr>
          <a:xfrm>
            <a:off x="6598768"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If we’re not given the ‘full picture’, your estate planning arrangements may not be carried out as intended:</a:t>
            </a:r>
            <a:endParaRPr lang="en-US" sz="1250" dirty="0"/>
          </a:p>
          <a:p>
            <a:pPr marL="457200" lvl="1" indent="-228600" algn="l">
              <a:lnSpc>
                <a:spcPct val="112000"/>
              </a:lnSpc>
              <a:spcAft>
                <a:spcPts val="400"/>
              </a:spcAft>
              <a:buSzPct val="100000"/>
              <a:buChar char="–"/>
            </a:pPr>
            <a:r>
              <a:rPr lang="en-US" sz="1150" dirty="0">
                <a:solidFill>
                  <a:srgbClr val="5B6472"/>
                </a:solidFill>
                <a:latin typeface="Calibri" pitchFamily="34" charset="0"/>
                <a:ea typeface="Calibri" pitchFamily="34" charset="-122"/>
                <a:cs typeface="Calibri" pitchFamily="34" charset="-120"/>
              </a:rPr>
              <a:t>not telling us of key relationships may result in unexpected Will challenges</a:t>
            </a:r>
            <a:endParaRPr lang="en-US" sz="1250" dirty="0"/>
          </a:p>
          <a:p>
            <a:pPr marL="457200" lvl="1" indent="-228600" algn="l">
              <a:lnSpc>
                <a:spcPct val="112000"/>
              </a:lnSpc>
              <a:spcAft>
                <a:spcPts val="400"/>
              </a:spcAft>
              <a:buSzPct val="100000"/>
              <a:buChar char="–"/>
            </a:pPr>
            <a:r>
              <a:rPr lang="en-US" sz="1150" dirty="0">
                <a:solidFill>
                  <a:srgbClr val="5B6472"/>
                </a:solidFill>
                <a:latin typeface="Calibri" pitchFamily="34" charset="0"/>
                <a:ea typeface="Calibri" pitchFamily="34" charset="-122"/>
                <a:cs typeface="Calibri" pitchFamily="34" charset="-120"/>
              </a:rPr>
              <a:t>not telling us of structures may mean assets don’t pass as you intend</a:t>
            </a:r>
            <a:endParaRPr lang="en-US" sz="1250" dirty="0"/>
          </a:p>
          <a:p>
            <a:pPr marL="457200" lvl="1" indent="-228600" algn="l">
              <a:lnSpc>
                <a:spcPct val="112000"/>
              </a:lnSpc>
              <a:spcAft>
                <a:spcPts val="400"/>
              </a:spcAft>
              <a:buSzPct val="100000"/>
              <a:buChar char="–"/>
            </a:pPr>
            <a:r>
              <a:rPr lang="en-US" sz="1150" dirty="0">
                <a:solidFill>
                  <a:srgbClr val="5B6472"/>
                </a:solidFill>
                <a:latin typeface="Calibri" pitchFamily="34" charset="0"/>
                <a:ea typeface="Calibri" pitchFamily="34" charset="-122"/>
                <a:cs typeface="Calibri" pitchFamily="34" charset="-120"/>
              </a:rPr>
              <a:t>not telling us of residency status may cause adverse tax consequences</a:t>
            </a:r>
            <a:endParaRPr lang="en-US" sz="1250" dirty="0"/>
          </a:p>
          <a:p>
            <a:pPr marL="457200" lvl="1" indent="-228600" algn="l">
              <a:lnSpc>
                <a:spcPct val="112000"/>
              </a:lnSpc>
              <a:spcAft>
                <a:spcPts val="400"/>
              </a:spcAft>
              <a:buSzPct val="100000"/>
              <a:buChar char="–"/>
            </a:pPr>
            <a:r>
              <a:rPr lang="en-US" sz="1150" dirty="0">
                <a:solidFill>
                  <a:srgbClr val="5B6472"/>
                </a:solidFill>
                <a:latin typeface="Calibri" pitchFamily="34" charset="0"/>
                <a:ea typeface="Calibri" pitchFamily="34" charset="-122"/>
                <a:cs typeface="Calibri" pitchFamily="34" charset="-120"/>
              </a:rPr>
              <a:t>…and more</a:t>
            </a:r>
            <a:endParaRPr lang="en-US" sz="12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21D33"/>
        </a:solidFill>
        <a:effectLst/>
      </p:bgPr>
    </p:bg>
    <p:spTree>
      <p:nvGrpSpPr>
        <p:cNvPr id="1" name=""/>
        <p:cNvGrpSpPr/>
        <p:nvPr/>
      </p:nvGrpSpPr>
      <p:grpSpPr>
        <a:xfrm>
          <a:off x="0" y="0"/>
          <a:ext cx="0" cy="0"/>
          <a:chOff x="0" y="0"/>
          <a:chExt cx="0" cy="0"/>
        </a:xfrm>
      </p:grpSpPr>
      <p:sp>
        <p:nvSpPr>
          <p:cNvPr id="2" name="Shape 0"/>
          <p:cNvSpPr/>
          <p:nvPr/>
        </p:nvSpPr>
        <p:spPr>
          <a:xfrm>
            <a:off x="9814255" y="-1280160"/>
            <a:ext cx="3840480" cy="3840480"/>
          </a:xfrm>
          <a:prstGeom prst="ellipse">
            <a:avLst/>
          </a:prstGeom>
          <a:solidFill>
            <a:srgbClr val="1B2A4A">
              <a:alpha val="60000"/>
            </a:srgbClr>
          </a:solidFill>
          <a:ln/>
        </p:spPr>
        <p:txBody>
          <a:bodyPr/>
          <a:lstStyle/>
          <a:p>
            <a:endParaRPr lang="en-AU"/>
          </a:p>
        </p:txBody>
      </p:sp>
      <p:sp>
        <p:nvSpPr>
          <p:cNvPr id="3" name="Shape 1"/>
          <p:cNvSpPr/>
          <p:nvPr/>
        </p:nvSpPr>
        <p:spPr>
          <a:xfrm>
            <a:off x="-1463040" y="4846320"/>
            <a:ext cx="3108960" cy="3108960"/>
          </a:xfrm>
          <a:prstGeom prst="ellipse">
            <a:avLst/>
          </a:prstGeom>
          <a:solidFill>
            <a:srgbClr val="1B2A4A">
              <a:alpha val="60000"/>
            </a:srgbClr>
          </a:solidFill>
          <a:ln/>
        </p:spPr>
        <p:txBody>
          <a:bodyPr/>
          <a:lstStyle/>
          <a:p>
            <a:endParaRPr lang="en-AU"/>
          </a:p>
        </p:txBody>
      </p:sp>
      <p:sp>
        <p:nvSpPr>
          <p:cNvPr id="4" name="Text 2"/>
          <p:cNvSpPr/>
          <p:nvPr/>
        </p:nvSpPr>
        <p:spPr>
          <a:xfrm>
            <a:off x="548640" y="2560320"/>
            <a:ext cx="11094415" cy="365760"/>
          </a:xfrm>
          <a:prstGeom prst="rect">
            <a:avLst/>
          </a:prstGeom>
          <a:noFill/>
          <a:ln/>
        </p:spPr>
        <p:txBody>
          <a:bodyPr wrap="square" lIns="0" tIns="0" rIns="0" bIns="0" rtlCol="0" anchor="ctr"/>
          <a:lstStyle/>
          <a:p>
            <a:pPr marL="0" indent="0" algn="l">
              <a:buNone/>
            </a:pPr>
            <a:r>
              <a:rPr lang="en-US" sz="1300" b="1" kern="0" spc="300" dirty="0">
                <a:solidFill>
                  <a:srgbClr val="C7AC7C"/>
                </a:solidFill>
                <a:latin typeface="Calibri" pitchFamily="34" charset="0"/>
                <a:ea typeface="Calibri" pitchFamily="34" charset="-122"/>
                <a:cs typeface="Calibri" pitchFamily="34" charset="-120"/>
              </a:rPr>
              <a:t>SECTION 1</a:t>
            </a:r>
            <a:endParaRPr lang="en-US" sz="1300" dirty="0"/>
          </a:p>
        </p:txBody>
      </p:sp>
      <p:sp>
        <p:nvSpPr>
          <p:cNvPr id="5" name="Shape 3"/>
          <p:cNvSpPr/>
          <p:nvPr/>
        </p:nvSpPr>
        <p:spPr>
          <a:xfrm>
            <a:off x="548640" y="3044952"/>
            <a:ext cx="502920" cy="82296"/>
          </a:xfrm>
          <a:prstGeom prst="rect">
            <a:avLst/>
          </a:prstGeom>
          <a:solidFill>
            <a:srgbClr val="AD8A52"/>
          </a:solidFill>
          <a:ln/>
        </p:spPr>
        <p:txBody>
          <a:bodyPr/>
          <a:lstStyle/>
          <a:p>
            <a:endParaRPr lang="en-AU"/>
          </a:p>
        </p:txBody>
      </p:sp>
      <p:sp>
        <p:nvSpPr>
          <p:cNvPr id="6" name="Text 4"/>
          <p:cNvSpPr/>
          <p:nvPr/>
        </p:nvSpPr>
        <p:spPr>
          <a:xfrm>
            <a:off x="548640" y="3154680"/>
            <a:ext cx="10180015" cy="1280160"/>
          </a:xfrm>
          <a:prstGeom prst="rect">
            <a:avLst/>
          </a:prstGeom>
          <a:noFill/>
          <a:ln/>
        </p:spPr>
        <p:txBody>
          <a:bodyPr wrap="square" lIns="0" tIns="0" rIns="0" bIns="0" rtlCol="0" anchor="t"/>
          <a:lstStyle/>
          <a:p>
            <a:pPr marL="0" indent="0" algn="l">
              <a:buNone/>
            </a:pPr>
            <a:r>
              <a:rPr lang="en-US" sz="3800" b="1" dirty="0">
                <a:solidFill>
                  <a:srgbClr val="FFFFFF"/>
                </a:solidFill>
                <a:latin typeface="Cambria" pitchFamily="34" charset="0"/>
                <a:ea typeface="Cambria" pitchFamily="34" charset="-122"/>
                <a:cs typeface="Cambria" pitchFamily="34" charset="-120"/>
              </a:rPr>
              <a:t>About you and your objectives</a:t>
            </a:r>
            <a:endParaRPr lang="en-US" sz="3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Your details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371600"/>
            <a:ext cx="11094415" cy="4572000"/>
          </a:xfrm>
          <a:prstGeom prst="rect">
            <a:avLst/>
          </a:prstGeom>
          <a:noFill/>
          <a:ln/>
        </p:spPr>
        <p:txBody>
          <a:bodyPr wrap="square" lIns="0" tIns="0" rIns="0" bIns="0" rtlCol="0" anchor="t"/>
          <a:lstStyle/>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Verification of ID</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Full name, aliases / former name</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Address, phone and email</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Date of birth, occupation, preferred language</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Any rush for the estate plan? Unwell, or going overseas?</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Prior Wills? Foreign Wills? Mutual Wills? Reason for change?</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Family and key persons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188720"/>
            <a:ext cx="11094415" cy="64008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Please provide the following for your immediate family, people you want to benefit, key persons for your Will, and anyone who may be unhappy with it:</a:t>
            </a:r>
            <a:endParaRPr lang="en-US" sz="1250" dirty="0"/>
          </a:p>
        </p:txBody>
      </p:sp>
      <p:sp>
        <p:nvSpPr>
          <p:cNvPr id="5" name="Text 3"/>
          <p:cNvSpPr/>
          <p:nvPr/>
        </p:nvSpPr>
        <p:spPr>
          <a:xfrm>
            <a:off x="548640" y="1874520"/>
            <a:ext cx="4023360" cy="4206240"/>
          </a:xfrm>
          <a:prstGeom prst="rect">
            <a:avLst/>
          </a:prstGeom>
          <a:noFill/>
          <a:ln/>
        </p:spPr>
        <p:txBody>
          <a:bodyPr wrap="square" lIns="0" tIns="0" rIns="0" bIns="0" rtlCol="0" anchor="t"/>
          <a:lstStyle/>
          <a:p>
            <a:pPr marL="177800" indent="-177800" algn="l">
              <a:lnSpc>
                <a:spcPct val="112000"/>
              </a:lnSpc>
              <a:spcAft>
                <a:spcPts val="900"/>
              </a:spcAft>
              <a:buSzPct val="100000"/>
              <a:buChar char="●"/>
            </a:pPr>
            <a:r>
              <a:rPr lang="en-US" sz="1300" dirty="0">
                <a:solidFill>
                  <a:srgbClr val="26313F"/>
                </a:solidFill>
                <a:latin typeface="Calibri" pitchFamily="34" charset="0"/>
                <a:ea typeface="Calibri" pitchFamily="34" charset="-122"/>
                <a:cs typeface="Calibri" pitchFamily="34" charset="-120"/>
              </a:rPr>
              <a:t>Full names and other names they go by</a:t>
            </a:r>
            <a:endParaRPr lang="en-US" sz="1300" dirty="0"/>
          </a:p>
          <a:p>
            <a:pPr marL="177800" indent="-177800" algn="l">
              <a:lnSpc>
                <a:spcPct val="112000"/>
              </a:lnSpc>
              <a:spcAft>
                <a:spcPts val="900"/>
              </a:spcAft>
              <a:buSzPct val="100000"/>
              <a:buChar char="●"/>
            </a:pPr>
            <a:r>
              <a:rPr lang="en-US" sz="1300" dirty="0">
                <a:solidFill>
                  <a:srgbClr val="26313F"/>
                </a:solidFill>
                <a:latin typeface="Calibri" pitchFamily="34" charset="0"/>
                <a:ea typeface="Calibri" pitchFamily="34" charset="-122"/>
                <a:cs typeface="Calibri" pitchFamily="34" charset="-120"/>
              </a:rPr>
              <a:t>Relation to you (including if ‘step’ or ‘adopted’)</a:t>
            </a:r>
            <a:endParaRPr lang="en-US" sz="1300" dirty="0"/>
          </a:p>
          <a:p>
            <a:pPr marL="177800" indent="-177800" algn="l">
              <a:lnSpc>
                <a:spcPct val="112000"/>
              </a:lnSpc>
              <a:spcAft>
                <a:spcPts val="900"/>
              </a:spcAft>
              <a:buSzPct val="100000"/>
              <a:buChar char="●"/>
            </a:pPr>
            <a:r>
              <a:rPr lang="en-US" sz="1300" dirty="0">
                <a:solidFill>
                  <a:srgbClr val="26313F"/>
                </a:solidFill>
                <a:latin typeface="Calibri" pitchFamily="34" charset="0"/>
                <a:ea typeface="Calibri" pitchFamily="34" charset="-122"/>
                <a:cs typeface="Calibri" pitchFamily="34" charset="-120"/>
              </a:rPr>
              <a:t>Your relationship with that person (great, good, alright, estranged)</a:t>
            </a:r>
            <a:endParaRPr lang="en-US" sz="1300" dirty="0"/>
          </a:p>
          <a:p>
            <a:pPr marL="177800" indent="-177800" algn="l">
              <a:lnSpc>
                <a:spcPct val="112000"/>
              </a:lnSpc>
              <a:spcAft>
                <a:spcPts val="900"/>
              </a:spcAft>
              <a:buSzPct val="100000"/>
              <a:buChar char="●"/>
            </a:pPr>
            <a:r>
              <a:rPr lang="en-US" sz="1300" dirty="0">
                <a:solidFill>
                  <a:srgbClr val="26313F"/>
                </a:solidFill>
                <a:latin typeface="Calibri" pitchFamily="34" charset="0"/>
                <a:ea typeface="Calibri" pitchFamily="34" charset="-122"/>
                <a:cs typeface="Calibri" pitchFamily="34" charset="-120"/>
              </a:rPr>
              <a:t>Age and place of residence</a:t>
            </a:r>
            <a:endParaRPr lang="en-US" sz="1300" dirty="0"/>
          </a:p>
          <a:p>
            <a:pPr marL="177800" indent="-177800" algn="l">
              <a:lnSpc>
                <a:spcPct val="112000"/>
              </a:lnSpc>
              <a:spcAft>
                <a:spcPts val="900"/>
              </a:spcAft>
              <a:buSzPct val="100000"/>
              <a:buChar char="●"/>
            </a:pPr>
            <a:r>
              <a:rPr lang="en-US" sz="1300" dirty="0">
                <a:solidFill>
                  <a:srgbClr val="26313F"/>
                </a:solidFill>
                <a:latin typeface="Calibri" pitchFamily="34" charset="0"/>
                <a:ea typeface="Calibri" pitchFamily="34" charset="-122"/>
                <a:cs typeface="Calibri" pitchFamily="34" charset="-120"/>
              </a:rPr>
              <a:t>Other relevant details – health, bankruptcy, occupation, past history</a:t>
            </a:r>
            <a:endParaRPr lang="en-US" sz="1300" dirty="0"/>
          </a:p>
        </p:txBody>
      </p:sp>
      <p:sp>
        <p:nvSpPr>
          <p:cNvPr id="6" name="Shape 4"/>
          <p:cNvSpPr/>
          <p:nvPr/>
        </p:nvSpPr>
        <p:spPr>
          <a:xfrm>
            <a:off x="4937760" y="1874520"/>
            <a:ext cx="6705295" cy="4206240"/>
          </a:xfrm>
          <a:prstGeom prst="roundRect">
            <a:avLst>
              <a:gd name="adj" fmla="val 1739"/>
            </a:avLst>
          </a:prstGeom>
          <a:solidFill>
            <a:srgbClr val="FFFFFF"/>
          </a:solidFill>
          <a:ln w="15875">
            <a:solidFill>
              <a:srgbClr val="D7DEEA"/>
            </a:solidFill>
            <a:prstDash val="dash"/>
          </a:ln>
        </p:spPr>
        <p:txBody>
          <a:bodyPr/>
          <a:lstStyle/>
          <a:p>
            <a:endParaRPr lang="en-AU"/>
          </a:p>
        </p:txBody>
      </p:sp>
      <p:sp>
        <p:nvSpPr>
          <p:cNvPr id="7" name="Text 5"/>
          <p:cNvSpPr/>
          <p:nvPr/>
        </p:nvSpPr>
        <p:spPr>
          <a:xfrm>
            <a:off x="5138928" y="2002536"/>
            <a:ext cx="6302959" cy="292608"/>
          </a:xfrm>
          <a:prstGeom prst="rect">
            <a:avLst/>
          </a:prstGeom>
          <a:noFill/>
          <a:ln/>
        </p:spPr>
        <p:txBody>
          <a:bodyPr wrap="square" lIns="0" tIns="0" rIns="0" bIns="0" rtlCol="0" anchor="ctr"/>
          <a:lstStyle/>
          <a:p>
            <a:pPr marL="0" indent="0">
              <a:buNone/>
            </a:pPr>
            <a:r>
              <a:rPr lang="en-US" sz="1050" b="1" kern="0" spc="150" dirty="0">
                <a:solidFill>
                  <a:srgbClr val="AD8A52"/>
                </a:solidFill>
                <a:latin typeface="Calibri" pitchFamily="34" charset="0"/>
                <a:ea typeface="Calibri" pitchFamily="34" charset="-122"/>
                <a:cs typeface="Calibri" pitchFamily="34" charset="-120"/>
              </a:rPr>
              <a:t>FAMILY TREE – SKETCH HERE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Assets and liabilities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188720"/>
            <a:ext cx="11094415" cy="45720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Please provide the following for significant assets or debts you own, directly or indirectly:</a:t>
            </a:r>
            <a:endParaRPr lang="en-US" sz="1250" dirty="0"/>
          </a:p>
        </p:txBody>
      </p:sp>
      <p:sp>
        <p:nvSpPr>
          <p:cNvPr id="5" name="Text 3"/>
          <p:cNvSpPr/>
          <p:nvPr/>
        </p:nvSpPr>
        <p:spPr>
          <a:xfrm>
            <a:off x="548640" y="1737360"/>
            <a:ext cx="4023360" cy="4389120"/>
          </a:xfrm>
          <a:prstGeom prst="rect">
            <a:avLst/>
          </a:prstGeom>
          <a:noFill/>
          <a:ln/>
        </p:spPr>
        <p:txBody>
          <a:bodyPr wrap="square" lIns="0" tIns="0" rIns="0" bIns="0" rtlCol="0" anchor="t"/>
          <a:lstStyle/>
          <a:p>
            <a:pPr marL="177800" indent="-177800" algn="l">
              <a:lnSpc>
                <a:spcPct val="112000"/>
              </a:lnSpc>
              <a:spcAft>
                <a:spcPts val="900"/>
              </a:spcAft>
              <a:buSzPct val="100000"/>
              <a:buChar char="●"/>
            </a:pPr>
            <a:r>
              <a:rPr lang="en-US" sz="1300" dirty="0">
                <a:solidFill>
                  <a:srgbClr val="26313F"/>
                </a:solidFill>
                <a:latin typeface="Calibri" pitchFamily="34" charset="0"/>
                <a:ea typeface="Calibri" pitchFamily="34" charset="-122"/>
                <a:cs typeface="Calibri" pitchFamily="34" charset="-120"/>
              </a:rPr>
              <a:t>Specific details about the asset, including who legally owns it</a:t>
            </a:r>
            <a:endParaRPr lang="en-US" sz="1300" dirty="0"/>
          </a:p>
          <a:p>
            <a:pPr marL="177800" indent="-177800" algn="l">
              <a:lnSpc>
                <a:spcPct val="112000"/>
              </a:lnSpc>
              <a:spcAft>
                <a:spcPts val="900"/>
              </a:spcAft>
              <a:buSzPct val="100000"/>
              <a:buChar char="●"/>
            </a:pPr>
            <a:r>
              <a:rPr lang="en-US" sz="1300" dirty="0">
                <a:solidFill>
                  <a:srgbClr val="26313F"/>
                </a:solidFill>
                <a:latin typeface="Calibri" pitchFamily="34" charset="0"/>
                <a:ea typeface="Calibri" pitchFamily="34" charset="-122"/>
                <a:cs typeface="Calibri" pitchFamily="34" charset="-120"/>
              </a:rPr>
              <a:t>Market value, linked debt, and approximate equity</a:t>
            </a:r>
            <a:endParaRPr lang="en-US" sz="1300" dirty="0"/>
          </a:p>
          <a:p>
            <a:pPr marL="177800" indent="-177800" algn="l">
              <a:lnSpc>
                <a:spcPct val="112000"/>
              </a:lnSpc>
              <a:spcAft>
                <a:spcPts val="900"/>
              </a:spcAft>
              <a:buSzPct val="100000"/>
              <a:buChar char="●"/>
            </a:pPr>
            <a:r>
              <a:rPr lang="en-US" sz="1300" dirty="0">
                <a:solidFill>
                  <a:srgbClr val="26313F"/>
                </a:solidFill>
                <a:latin typeface="Calibri" pitchFamily="34" charset="0"/>
                <a:ea typeface="Calibri" pitchFamily="34" charset="-122"/>
                <a:cs typeface="Calibri" pitchFamily="34" charset="-120"/>
              </a:rPr>
              <a:t>Who should benefit, including any particular ‘directions’</a:t>
            </a:r>
            <a:endParaRPr lang="en-US" sz="1300" dirty="0"/>
          </a:p>
          <a:p>
            <a:pPr marL="177800" indent="-177800" algn="l">
              <a:lnSpc>
                <a:spcPct val="112000"/>
              </a:lnSpc>
              <a:spcAft>
                <a:spcPts val="900"/>
              </a:spcAft>
              <a:buSzPct val="100000"/>
              <a:buChar char="●"/>
            </a:pPr>
            <a:r>
              <a:rPr lang="en-US" sz="1300" dirty="0">
                <a:solidFill>
                  <a:srgbClr val="26313F"/>
                </a:solidFill>
                <a:latin typeface="Calibri" pitchFamily="34" charset="0"/>
                <a:ea typeface="Calibri" pitchFamily="34" charset="-122"/>
                <a:cs typeface="Calibri" pitchFamily="34" charset="-120"/>
              </a:rPr>
              <a:t>Where the asset is located (interstate or overseas?)</a:t>
            </a:r>
            <a:endParaRPr lang="en-US" sz="1300" dirty="0"/>
          </a:p>
          <a:p>
            <a:pPr marL="177800" indent="-177800" algn="l">
              <a:lnSpc>
                <a:spcPct val="112000"/>
              </a:lnSpc>
              <a:spcAft>
                <a:spcPts val="900"/>
              </a:spcAft>
              <a:buSzPct val="100000"/>
              <a:buChar char="●"/>
            </a:pPr>
            <a:r>
              <a:rPr lang="en-US" sz="1300" dirty="0">
                <a:solidFill>
                  <a:srgbClr val="26313F"/>
                </a:solidFill>
                <a:latin typeface="Calibri" pitchFamily="34" charset="0"/>
                <a:ea typeface="Calibri" pitchFamily="34" charset="-122"/>
                <a:cs typeface="Calibri" pitchFamily="34" charset="-120"/>
              </a:rPr>
              <a:t>Anyone who helped contribute to acquiring the asset?</a:t>
            </a:r>
            <a:endParaRPr lang="en-US" sz="1300" dirty="0"/>
          </a:p>
        </p:txBody>
      </p:sp>
      <p:sp>
        <p:nvSpPr>
          <p:cNvPr id="6" name="Shape 4"/>
          <p:cNvSpPr/>
          <p:nvPr/>
        </p:nvSpPr>
        <p:spPr>
          <a:xfrm>
            <a:off x="4937760" y="1737360"/>
            <a:ext cx="6705295" cy="4389120"/>
          </a:xfrm>
          <a:prstGeom prst="roundRect">
            <a:avLst>
              <a:gd name="adj" fmla="val 1667"/>
            </a:avLst>
          </a:prstGeom>
          <a:solidFill>
            <a:srgbClr val="FFFFFF"/>
          </a:solidFill>
          <a:ln w="15875">
            <a:solidFill>
              <a:srgbClr val="D7DEEA"/>
            </a:solidFill>
            <a:prstDash val="dash"/>
          </a:ln>
        </p:spPr>
        <p:txBody>
          <a:bodyPr/>
          <a:lstStyle/>
          <a:p>
            <a:endParaRPr lang="en-AU"/>
          </a:p>
        </p:txBody>
      </p:sp>
      <p:sp>
        <p:nvSpPr>
          <p:cNvPr id="7" name="Text 5"/>
          <p:cNvSpPr/>
          <p:nvPr/>
        </p:nvSpPr>
        <p:spPr>
          <a:xfrm>
            <a:off x="5138928" y="1865376"/>
            <a:ext cx="6302959" cy="292608"/>
          </a:xfrm>
          <a:prstGeom prst="rect">
            <a:avLst/>
          </a:prstGeom>
          <a:noFill/>
          <a:ln/>
        </p:spPr>
        <p:txBody>
          <a:bodyPr wrap="square" lIns="0" tIns="0" rIns="0" bIns="0" rtlCol="0" anchor="ctr"/>
          <a:lstStyle/>
          <a:p>
            <a:pPr marL="0" indent="0">
              <a:buNone/>
            </a:pPr>
            <a:r>
              <a:rPr lang="en-US" sz="1050" b="1" kern="0" spc="150" dirty="0">
                <a:solidFill>
                  <a:srgbClr val="AD8A52"/>
                </a:solidFill>
                <a:latin typeface="Calibri" pitchFamily="34" charset="0"/>
                <a:ea typeface="Calibri" pitchFamily="34" charset="-122"/>
                <a:cs typeface="Calibri" pitchFamily="34" charset="-120"/>
              </a:rPr>
              <a:t>STRUCTURE DIAGRAM – SKETCH HERE</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Your objectives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170432"/>
            <a:ext cx="11094415" cy="320040"/>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Prior Will</a:t>
            </a:r>
            <a:endParaRPr lang="en-US" sz="1500" dirty="0"/>
          </a:p>
        </p:txBody>
      </p:sp>
      <p:sp>
        <p:nvSpPr>
          <p:cNvPr id="5" name="Text 3"/>
          <p:cNvSpPr/>
          <p:nvPr/>
        </p:nvSpPr>
        <p:spPr>
          <a:xfrm>
            <a:off x="548640" y="1536192"/>
            <a:ext cx="11094415" cy="548640"/>
          </a:xfrm>
          <a:prstGeom prst="rect">
            <a:avLst/>
          </a:prstGeom>
          <a:noFill/>
          <a:ln/>
        </p:spPr>
        <p:txBody>
          <a:bodyPr wrap="square" lIns="0" tIns="0" rIns="0" bIns="0" rtlCol="0" anchor="t"/>
          <a:lstStyle/>
          <a:p>
            <a:pPr marL="177800" indent="-177800" algn="l">
              <a:lnSpc>
                <a:spcPct val="112000"/>
              </a:lnSpc>
              <a:spcAft>
                <a:spcPts val="800"/>
              </a:spcAft>
              <a:buSzPct val="100000"/>
              <a:buChar char="●"/>
            </a:pPr>
            <a:r>
              <a:rPr lang="en-US" sz="1300" dirty="0">
                <a:solidFill>
                  <a:srgbClr val="26313F"/>
                </a:solidFill>
                <a:latin typeface="Calibri" pitchFamily="34" charset="0"/>
                <a:ea typeface="Calibri" pitchFamily="34" charset="-122"/>
                <a:cs typeface="Calibri" pitchFamily="34" charset="-120"/>
              </a:rPr>
              <a:t>Any prior estate planning documents? Reason for updating? Does it still make sense?</a:t>
            </a:r>
            <a:endParaRPr lang="en-US" sz="1300" dirty="0"/>
          </a:p>
        </p:txBody>
      </p:sp>
      <p:sp>
        <p:nvSpPr>
          <p:cNvPr id="6" name="Text 4"/>
          <p:cNvSpPr/>
          <p:nvPr/>
        </p:nvSpPr>
        <p:spPr>
          <a:xfrm>
            <a:off x="548640" y="2331720"/>
            <a:ext cx="11094415" cy="32004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In your own words:</a:t>
            </a:r>
            <a:endParaRPr lang="en-US" sz="1250" dirty="0"/>
          </a:p>
        </p:txBody>
      </p:sp>
      <p:sp>
        <p:nvSpPr>
          <p:cNvPr id="7" name="Text 5"/>
          <p:cNvSpPr/>
          <p:nvPr/>
        </p:nvSpPr>
        <p:spPr>
          <a:xfrm>
            <a:off x="548640" y="2743200"/>
            <a:ext cx="11094415" cy="3657600"/>
          </a:xfrm>
          <a:prstGeom prst="rect">
            <a:avLst/>
          </a:prstGeom>
          <a:noFill/>
          <a:ln/>
        </p:spPr>
        <p:txBody>
          <a:bodyPr wrap="square" lIns="0" tIns="0" rIns="0" bIns="0" rtlCol="0" anchor="t"/>
          <a:lstStyle/>
          <a:p>
            <a:pPr marL="177800" indent="-177800" algn="l">
              <a:lnSpc>
                <a:spcPct val="112000"/>
              </a:lnSpc>
              <a:spcAft>
                <a:spcPts val="1100"/>
              </a:spcAft>
              <a:buSzPct val="100000"/>
              <a:buChar char="●"/>
            </a:pPr>
            <a:r>
              <a:rPr lang="en-US" sz="1450" dirty="0">
                <a:solidFill>
                  <a:srgbClr val="26313F"/>
                </a:solidFill>
                <a:latin typeface="Calibri" pitchFamily="34" charset="0"/>
                <a:ea typeface="Calibri" pitchFamily="34" charset="-122"/>
                <a:cs typeface="Calibri" pitchFamily="34" charset="-120"/>
              </a:rPr>
              <a:t>Who do you want to benefit from your assets?</a:t>
            </a:r>
            <a:endParaRPr lang="en-US" sz="1450" dirty="0"/>
          </a:p>
          <a:p>
            <a:pPr marL="177800" indent="-177800" algn="l">
              <a:lnSpc>
                <a:spcPct val="112000"/>
              </a:lnSpc>
              <a:spcAft>
                <a:spcPts val="1100"/>
              </a:spcAft>
              <a:buSzPct val="100000"/>
              <a:buChar char="●"/>
            </a:pPr>
            <a:r>
              <a:rPr lang="en-US" sz="1450" dirty="0">
                <a:solidFill>
                  <a:srgbClr val="26313F"/>
                </a:solidFill>
                <a:latin typeface="Calibri" pitchFamily="34" charset="0"/>
                <a:ea typeface="Calibri" pitchFamily="34" charset="-122"/>
                <a:cs typeface="Calibri" pitchFamily="34" charset="-120"/>
              </a:rPr>
              <a:t>Who do you want in charge of those assets? (relevant if beneficiaries are minors)</a:t>
            </a:r>
            <a:endParaRPr lang="en-US" sz="1450" dirty="0"/>
          </a:p>
          <a:p>
            <a:pPr marL="177800" indent="-177800" algn="l">
              <a:lnSpc>
                <a:spcPct val="112000"/>
              </a:lnSpc>
              <a:spcAft>
                <a:spcPts val="1100"/>
              </a:spcAft>
              <a:buSzPct val="100000"/>
              <a:buChar char="●"/>
            </a:pPr>
            <a:r>
              <a:rPr lang="en-US" sz="1450" dirty="0">
                <a:solidFill>
                  <a:srgbClr val="26313F"/>
                </a:solidFill>
                <a:latin typeface="Calibri" pitchFamily="34" charset="0"/>
                <a:ea typeface="Calibri" pitchFamily="34" charset="-122"/>
                <a:cs typeface="Calibri" pitchFamily="34" charset="-120"/>
              </a:rPr>
              <a:t>Who should look after any minor children, if applicable?</a:t>
            </a:r>
            <a:endParaRPr lang="en-US" sz="1450" dirty="0"/>
          </a:p>
          <a:p>
            <a:pPr marL="177800" indent="-177800" algn="l">
              <a:lnSpc>
                <a:spcPct val="112000"/>
              </a:lnSpc>
              <a:spcAft>
                <a:spcPts val="1100"/>
              </a:spcAft>
              <a:buSzPct val="100000"/>
              <a:buChar char="●"/>
            </a:pPr>
            <a:r>
              <a:rPr lang="en-US" sz="1450" dirty="0">
                <a:solidFill>
                  <a:srgbClr val="26313F"/>
                </a:solidFill>
                <a:latin typeface="Calibri" pitchFamily="34" charset="0"/>
                <a:ea typeface="Calibri" pitchFamily="34" charset="-122"/>
                <a:cs typeface="Calibri" pitchFamily="34" charset="-120"/>
              </a:rPr>
              <a:t>Are there particular people you do not want benefiting from your assets?</a:t>
            </a:r>
            <a:endParaRPr lang="en-US" sz="1450" dirty="0"/>
          </a:p>
          <a:p>
            <a:pPr marL="177800" indent="-177800" algn="l">
              <a:lnSpc>
                <a:spcPct val="112000"/>
              </a:lnSpc>
              <a:spcAft>
                <a:spcPts val="1100"/>
              </a:spcAft>
              <a:buSzPct val="100000"/>
              <a:buChar char="●"/>
            </a:pPr>
            <a:r>
              <a:rPr lang="en-US" sz="1450" dirty="0">
                <a:solidFill>
                  <a:srgbClr val="26313F"/>
                </a:solidFill>
                <a:latin typeface="Calibri" pitchFamily="34" charset="0"/>
                <a:ea typeface="Calibri" pitchFamily="34" charset="-122"/>
                <a:cs typeface="Calibri" pitchFamily="34" charset="-120"/>
              </a:rPr>
              <a:t>Consider different alternatives, scenarios and backups</a:t>
            </a:r>
            <a:endParaRPr lang="en-US" sz="14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Considerations for minors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371600"/>
            <a:ext cx="11094415" cy="4572000"/>
          </a:xfrm>
          <a:prstGeom prst="rect">
            <a:avLst/>
          </a:prstGeom>
          <a:noFill/>
          <a:ln/>
        </p:spPr>
        <p:txBody>
          <a:bodyPr wrap="square" lIns="0" tIns="0" rIns="0" bIns="0" rtlCol="0" anchor="t"/>
          <a:lstStyle/>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Should the same people manage the finances and care for the minors?</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Should a representative from each side of the family be involved at a decision-making level?</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Carers hold all rights and responsibilities for long-term care, welfare and development of the child (e.g. education, religion)</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Consider the practical implications if guardians don’t live with the minors</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1D33"/>
        </a:solidFill>
        <a:effectLst/>
      </p:bgPr>
    </p:bg>
    <p:spTree>
      <p:nvGrpSpPr>
        <p:cNvPr id="1" name=""/>
        <p:cNvGrpSpPr/>
        <p:nvPr/>
      </p:nvGrpSpPr>
      <p:grpSpPr>
        <a:xfrm>
          <a:off x="0" y="0"/>
          <a:ext cx="0" cy="0"/>
          <a:chOff x="0" y="0"/>
          <a:chExt cx="0" cy="0"/>
        </a:xfrm>
      </p:grpSpPr>
      <p:sp>
        <p:nvSpPr>
          <p:cNvPr id="2" name="Shape 0"/>
          <p:cNvSpPr/>
          <p:nvPr/>
        </p:nvSpPr>
        <p:spPr>
          <a:xfrm>
            <a:off x="9814255" y="-1280160"/>
            <a:ext cx="3840480" cy="3840480"/>
          </a:xfrm>
          <a:prstGeom prst="ellipse">
            <a:avLst/>
          </a:prstGeom>
          <a:solidFill>
            <a:srgbClr val="1B2A4A">
              <a:alpha val="60000"/>
            </a:srgbClr>
          </a:solidFill>
          <a:ln/>
        </p:spPr>
        <p:txBody>
          <a:bodyPr/>
          <a:lstStyle/>
          <a:p>
            <a:endParaRPr lang="en-AU"/>
          </a:p>
        </p:txBody>
      </p:sp>
      <p:sp>
        <p:nvSpPr>
          <p:cNvPr id="3" name="Shape 1"/>
          <p:cNvSpPr/>
          <p:nvPr/>
        </p:nvSpPr>
        <p:spPr>
          <a:xfrm>
            <a:off x="-1463040" y="4846320"/>
            <a:ext cx="3108960" cy="3108960"/>
          </a:xfrm>
          <a:prstGeom prst="ellipse">
            <a:avLst/>
          </a:prstGeom>
          <a:solidFill>
            <a:srgbClr val="1B2A4A">
              <a:alpha val="60000"/>
            </a:srgbClr>
          </a:solidFill>
          <a:ln/>
        </p:spPr>
        <p:txBody>
          <a:bodyPr/>
          <a:lstStyle/>
          <a:p>
            <a:endParaRPr lang="en-AU"/>
          </a:p>
        </p:txBody>
      </p:sp>
      <p:sp>
        <p:nvSpPr>
          <p:cNvPr id="4" name="Text 2"/>
          <p:cNvSpPr/>
          <p:nvPr/>
        </p:nvSpPr>
        <p:spPr>
          <a:xfrm>
            <a:off x="548640" y="2560320"/>
            <a:ext cx="11094415" cy="365760"/>
          </a:xfrm>
          <a:prstGeom prst="rect">
            <a:avLst/>
          </a:prstGeom>
          <a:noFill/>
          <a:ln/>
        </p:spPr>
        <p:txBody>
          <a:bodyPr wrap="square" lIns="0" tIns="0" rIns="0" bIns="0" rtlCol="0" anchor="ctr"/>
          <a:lstStyle/>
          <a:p>
            <a:pPr marL="0" indent="0" algn="l">
              <a:buNone/>
            </a:pPr>
            <a:r>
              <a:rPr lang="en-US" sz="1300" b="1" kern="0" spc="300" dirty="0">
                <a:solidFill>
                  <a:srgbClr val="C7AC7C"/>
                </a:solidFill>
                <a:latin typeface="Calibri" pitchFamily="34" charset="0"/>
                <a:ea typeface="Calibri" pitchFamily="34" charset="-122"/>
                <a:cs typeface="Calibri" pitchFamily="34" charset="-120"/>
              </a:rPr>
              <a:t>SECTION 2</a:t>
            </a:r>
            <a:endParaRPr lang="en-US" sz="1300" dirty="0"/>
          </a:p>
        </p:txBody>
      </p:sp>
      <p:sp>
        <p:nvSpPr>
          <p:cNvPr id="5" name="Shape 3"/>
          <p:cNvSpPr/>
          <p:nvPr/>
        </p:nvSpPr>
        <p:spPr>
          <a:xfrm>
            <a:off x="548640" y="3044952"/>
            <a:ext cx="502920" cy="82296"/>
          </a:xfrm>
          <a:prstGeom prst="rect">
            <a:avLst/>
          </a:prstGeom>
          <a:solidFill>
            <a:srgbClr val="AD8A52"/>
          </a:solidFill>
          <a:ln/>
        </p:spPr>
        <p:txBody>
          <a:bodyPr/>
          <a:lstStyle/>
          <a:p>
            <a:endParaRPr lang="en-AU"/>
          </a:p>
        </p:txBody>
      </p:sp>
      <p:sp>
        <p:nvSpPr>
          <p:cNvPr id="6" name="Text 4"/>
          <p:cNvSpPr/>
          <p:nvPr/>
        </p:nvSpPr>
        <p:spPr>
          <a:xfrm>
            <a:off x="548640" y="3154680"/>
            <a:ext cx="10180015" cy="1280160"/>
          </a:xfrm>
          <a:prstGeom prst="rect">
            <a:avLst/>
          </a:prstGeom>
          <a:noFill/>
          <a:ln/>
        </p:spPr>
        <p:txBody>
          <a:bodyPr wrap="square" lIns="0" tIns="0" rIns="0" bIns="0" rtlCol="0" anchor="t"/>
          <a:lstStyle/>
          <a:p>
            <a:pPr marL="0" indent="0" algn="l">
              <a:buNone/>
            </a:pPr>
            <a:r>
              <a:rPr lang="en-US" sz="3800" b="1" dirty="0">
                <a:solidFill>
                  <a:srgbClr val="FFFFFF"/>
                </a:solidFill>
                <a:latin typeface="Cambria" pitchFamily="34" charset="0"/>
                <a:ea typeface="Cambria" pitchFamily="34" charset="-122"/>
                <a:cs typeface="Cambria" pitchFamily="34" charset="-120"/>
              </a:rPr>
              <a:t>How can we achieve your objectives</a:t>
            </a:r>
            <a:endParaRPr lang="en-US" sz="3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More than a Will</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097280"/>
            <a:ext cx="11094415" cy="54864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Assets can be held in different ways – personally, jointly, through super, trusts or companies – and how they’re held changes what needs to be done. A Will might not be enough.</a:t>
            </a:r>
            <a:endParaRPr lang="en-US" sz="12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783080"/>
          <a:ext cx="11094415" cy="4480560"/>
        </p:xfrm>
        <a:graphic>
          <a:graphicData uri="http://schemas.openxmlformats.org/drawingml/2006/table">
            <a:tbl>
              <a:tblPr/>
              <a:tblGrid>
                <a:gridCol w="1737360">
                  <a:extLst>
                    <a:ext uri="{9D8B030D-6E8A-4147-A177-3AD203B41FA5}">
                      <a16:colId xmlns:a16="http://schemas.microsoft.com/office/drawing/2014/main" val="20000"/>
                    </a:ext>
                  </a:extLst>
                </a:gridCol>
                <a:gridCol w="283464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3319272">
                  <a:extLst>
                    <a:ext uri="{9D8B030D-6E8A-4147-A177-3AD203B41FA5}">
                      <a16:colId xmlns:a16="http://schemas.microsoft.com/office/drawing/2014/main" val="20003"/>
                    </a:ext>
                  </a:extLst>
                </a:gridCol>
              </a:tblGrid>
              <a:tr h="640080">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Ownership</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What governs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What to look for</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How it can pass</a:t>
                      </a:r>
                      <a:endParaRPr lang="en-US" sz="12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640080">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Personal</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Will – if no Will, the law</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N/A</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Directly, or control over the asset</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40080">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Superannuation</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Super documents &amp; beneficiary nominations</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Is there a binding beneficiary nomination?</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Directly (limited people), or control via SMSF</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640080">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Jointly</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The law or your Will (depending how owned)</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Joint tenants or tenants in common</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Depends on how the joint interest is owned</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40080">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Company</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Company constitution; legal owner of shares</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Who is the director or shareholder?</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Can’t pass the asset directly; can pass control</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4"/>
                  </a:ext>
                </a:extLst>
              </a:tr>
              <a:tr h="640080">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Trust</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Trust document, or trust law</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Who is the trustee or appointor?</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Can’t pass the asset directly; can pass control</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40080">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Partnership</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Depends how owned &amp; third-party agreements</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Depends on how owned</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150" dirty="0">
                          <a:solidFill>
                            <a:srgbClr val="26313F"/>
                          </a:solidFill>
                          <a:latin typeface="Calibri" pitchFamily="34" charset="0"/>
                          <a:ea typeface="Calibri" pitchFamily="34" charset="-122"/>
                          <a:cs typeface="Calibri" pitchFamily="34" charset="-120"/>
                        </a:rPr>
                        <a:t>Depends on how owned</a:t>
                      </a:r>
                      <a:endParaRPr lang="en-US" sz="11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Estate challenges – grounds &amp; protection</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Shape 2"/>
          <p:cNvSpPr/>
          <p:nvPr/>
        </p:nvSpPr>
        <p:spPr>
          <a:xfrm>
            <a:off x="548640" y="1325880"/>
            <a:ext cx="5318608" cy="5074920"/>
          </a:xfrm>
          <a:prstGeom prst="roundRect">
            <a:avLst>
              <a:gd name="adj" fmla="val 1441"/>
            </a:avLst>
          </a:prstGeom>
          <a:solidFill>
            <a:srgbClr val="E9EDF4"/>
          </a:solidFill>
          <a:ln/>
        </p:spPr>
        <p:txBody>
          <a:bodyPr/>
          <a:lstStyle/>
          <a:p>
            <a:endParaRPr lang="en-AU"/>
          </a:p>
        </p:txBody>
      </p:sp>
      <p:sp>
        <p:nvSpPr>
          <p:cNvPr id="5" name="Shape 3"/>
          <p:cNvSpPr/>
          <p:nvPr/>
        </p:nvSpPr>
        <p:spPr>
          <a:xfrm>
            <a:off x="6324448" y="1325880"/>
            <a:ext cx="5318608" cy="5074920"/>
          </a:xfrm>
          <a:prstGeom prst="roundRect">
            <a:avLst>
              <a:gd name="adj" fmla="val 1441"/>
            </a:avLst>
          </a:prstGeom>
          <a:solidFill>
            <a:srgbClr val="E9EDF4"/>
          </a:solidFill>
          <a:ln/>
        </p:spPr>
        <p:txBody>
          <a:bodyPr/>
          <a:lstStyle/>
          <a:p>
            <a:endParaRPr lang="en-AU"/>
          </a:p>
        </p:txBody>
      </p:sp>
      <p:sp>
        <p:nvSpPr>
          <p:cNvPr id="6" name="Text 4"/>
          <p:cNvSpPr/>
          <p:nvPr/>
        </p:nvSpPr>
        <p:spPr>
          <a:xfrm>
            <a:off x="822960"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Family provision claims</a:t>
            </a:r>
            <a:endParaRPr lang="en-US" sz="1600" dirty="0"/>
          </a:p>
        </p:txBody>
      </p:sp>
      <p:sp>
        <p:nvSpPr>
          <p:cNvPr id="7" name="Text 5"/>
          <p:cNvSpPr/>
          <p:nvPr/>
        </p:nvSpPr>
        <p:spPr>
          <a:xfrm>
            <a:off x="6598768"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Making provision / bypassing the Will</a:t>
            </a:r>
            <a:endParaRPr lang="en-US" sz="1600" dirty="0"/>
          </a:p>
        </p:txBody>
      </p:sp>
      <p:sp>
        <p:nvSpPr>
          <p:cNvPr id="8" name="Text 6"/>
          <p:cNvSpPr/>
          <p:nvPr/>
        </p:nvSpPr>
        <p:spPr>
          <a:xfrm>
            <a:off x="822960"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Eligible persons generally include spouses, children and dependants – can include parents, ex-spouses and people you provide maintenance to</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Must prove not adequately provided for, based on various factors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Persons with special disabilities have a greater claim</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Only affects assets going into your Will – except NSW</a:t>
            </a:r>
            <a:endParaRPr lang="en-US" sz="1250" dirty="0"/>
          </a:p>
        </p:txBody>
      </p:sp>
      <p:sp>
        <p:nvSpPr>
          <p:cNvPr id="9" name="Text 7"/>
          <p:cNvSpPr/>
          <p:nvPr/>
        </p:nvSpPr>
        <p:spPr>
          <a:xfrm>
            <a:off x="6598768"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Joint tenancies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Direct superannuation nominations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Separate successor control documents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Restructuring; gift and loan-back arrangements; call options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Formal or informal declarations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Or: roll the dice and let the Court decide</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Estate challenges – factors &amp; other grounds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Shape 2"/>
          <p:cNvSpPr/>
          <p:nvPr/>
        </p:nvSpPr>
        <p:spPr>
          <a:xfrm>
            <a:off x="548640" y="1325880"/>
            <a:ext cx="5318608" cy="5074920"/>
          </a:xfrm>
          <a:prstGeom prst="roundRect">
            <a:avLst>
              <a:gd name="adj" fmla="val 1441"/>
            </a:avLst>
          </a:prstGeom>
          <a:solidFill>
            <a:srgbClr val="E9EDF4"/>
          </a:solidFill>
          <a:ln/>
        </p:spPr>
        <p:txBody>
          <a:bodyPr/>
          <a:lstStyle/>
          <a:p>
            <a:endParaRPr lang="en-AU"/>
          </a:p>
        </p:txBody>
      </p:sp>
      <p:sp>
        <p:nvSpPr>
          <p:cNvPr id="5" name="Shape 3"/>
          <p:cNvSpPr/>
          <p:nvPr/>
        </p:nvSpPr>
        <p:spPr>
          <a:xfrm>
            <a:off x="6324448" y="1325880"/>
            <a:ext cx="5318608" cy="5074920"/>
          </a:xfrm>
          <a:prstGeom prst="roundRect">
            <a:avLst>
              <a:gd name="adj" fmla="val 1441"/>
            </a:avLst>
          </a:prstGeom>
          <a:solidFill>
            <a:srgbClr val="E9EDF4"/>
          </a:solidFill>
          <a:ln/>
        </p:spPr>
        <p:txBody>
          <a:bodyPr/>
          <a:lstStyle/>
          <a:p>
            <a:endParaRPr lang="en-AU"/>
          </a:p>
        </p:txBody>
      </p:sp>
      <p:sp>
        <p:nvSpPr>
          <p:cNvPr id="6" name="Text 4"/>
          <p:cNvSpPr/>
          <p:nvPr/>
        </p:nvSpPr>
        <p:spPr>
          <a:xfrm>
            <a:off x="822960"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Factors a Court considers</a:t>
            </a:r>
            <a:endParaRPr lang="en-US" sz="1600" dirty="0"/>
          </a:p>
        </p:txBody>
      </p:sp>
      <p:sp>
        <p:nvSpPr>
          <p:cNvPr id="7" name="Text 5"/>
          <p:cNvSpPr/>
          <p:nvPr/>
        </p:nvSpPr>
        <p:spPr>
          <a:xfrm>
            <a:off x="6598768"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Other ways to challenge a Will</a:t>
            </a:r>
            <a:endParaRPr lang="en-US" sz="1600" dirty="0"/>
          </a:p>
        </p:txBody>
      </p:sp>
      <p:sp>
        <p:nvSpPr>
          <p:cNvPr id="8" name="Text 6"/>
          <p:cNvSpPr/>
          <p:nvPr/>
        </p:nvSpPr>
        <p:spPr>
          <a:xfrm>
            <a:off x="822960"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Eligible person’s financial position, now and in the future</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Ability to meet financial obligations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Physical, intellectual or mental disability</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Size of the estate</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Contributions to the deceased’s estate or welfare</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Competing claims from other beneficiaries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Standard of living during the deceased’s lifetime</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Relationship with, and wishes of, the deceased</a:t>
            </a:r>
            <a:endParaRPr lang="en-US" sz="1250" dirty="0"/>
          </a:p>
        </p:txBody>
      </p:sp>
      <p:sp>
        <p:nvSpPr>
          <p:cNvPr id="9" name="Text 7"/>
          <p:cNvSpPr/>
          <p:nvPr/>
        </p:nvSpPr>
        <p:spPr>
          <a:xfrm>
            <a:off x="6598768"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Markings suggesting tampering or missing pages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Invalid Will – not executed properly</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No capacity to make the Will</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Promises made to a person, but not kept in the Will</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Superannuation</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188720"/>
            <a:ext cx="5394960" cy="320040"/>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Nominations &amp; SMSF</a:t>
            </a:r>
            <a:endParaRPr lang="en-US" sz="1500" dirty="0"/>
          </a:p>
        </p:txBody>
      </p:sp>
      <p:sp>
        <p:nvSpPr>
          <p:cNvPr id="5" name="Text 3"/>
          <p:cNvSpPr/>
          <p:nvPr/>
        </p:nvSpPr>
        <p:spPr>
          <a:xfrm>
            <a:off x="548640" y="1600200"/>
            <a:ext cx="5394960" cy="4572000"/>
          </a:xfrm>
          <a:prstGeom prst="rect">
            <a:avLst/>
          </a:prstGeom>
          <a:noFill/>
          <a:ln/>
        </p:spPr>
        <p:txBody>
          <a:bodyPr wrap="square" lIns="0" tIns="0" rIns="0" bIns="0" rtlCol="0" anchor="t"/>
          <a:lstStyle/>
          <a:p>
            <a:pPr marL="177800" indent="-177800" algn="l">
              <a:lnSpc>
                <a:spcPct val="112000"/>
              </a:lnSpc>
              <a:spcAft>
                <a:spcPts val="600"/>
              </a:spcAft>
              <a:buSzPct val="100000"/>
              <a:buChar char="●"/>
            </a:pPr>
            <a:r>
              <a:rPr lang="en-US" sz="1150" dirty="0">
                <a:solidFill>
                  <a:srgbClr val="26313F"/>
                </a:solidFill>
                <a:latin typeface="Calibri" pitchFamily="34" charset="0"/>
                <a:ea typeface="Calibri" pitchFamily="34" charset="-122"/>
                <a:cs typeface="Calibri" pitchFamily="34" charset="-120"/>
              </a:rPr>
              <a:t>Super is not automatically part of your Will</a:t>
            </a:r>
            <a:endParaRPr lang="en-US" sz="1150" dirty="0"/>
          </a:p>
          <a:p>
            <a:pPr marL="177800" indent="-177800" algn="l">
              <a:lnSpc>
                <a:spcPct val="112000"/>
              </a:lnSpc>
              <a:spcAft>
                <a:spcPts val="600"/>
              </a:spcAft>
              <a:buSzPct val="100000"/>
              <a:buChar char="●"/>
            </a:pPr>
            <a:r>
              <a:rPr lang="en-US" sz="1150" dirty="0">
                <a:solidFill>
                  <a:srgbClr val="26313F"/>
                </a:solidFill>
                <a:latin typeface="Calibri" pitchFamily="34" charset="0"/>
                <a:ea typeface="Calibri" pitchFamily="34" charset="-122"/>
                <a:cs typeface="Calibri" pitchFamily="34" charset="-120"/>
              </a:rPr>
              <a:t>Nominate: legal personal representative, spouse, children or dependants</a:t>
            </a:r>
            <a:endParaRPr lang="en-US" sz="1150" dirty="0"/>
          </a:p>
          <a:p>
            <a:pPr marL="177800" indent="-177800" algn="l">
              <a:lnSpc>
                <a:spcPct val="112000"/>
              </a:lnSpc>
              <a:spcAft>
                <a:spcPts val="600"/>
              </a:spcAft>
              <a:buSzPct val="100000"/>
              <a:buChar char="●"/>
            </a:pPr>
            <a:r>
              <a:rPr lang="en-US" sz="1150" dirty="0">
                <a:solidFill>
                  <a:srgbClr val="26313F"/>
                </a:solidFill>
                <a:latin typeface="Calibri" pitchFamily="34" charset="0"/>
                <a:ea typeface="Calibri" pitchFamily="34" charset="-122"/>
                <a:cs typeface="Calibri" pitchFamily="34" charset="-120"/>
              </a:rPr>
              <a:t>Binding or non-binding – retail/industry funds you can do yourself</a:t>
            </a:r>
            <a:endParaRPr lang="en-US" sz="1150" dirty="0"/>
          </a:p>
          <a:p>
            <a:pPr marL="177800" indent="-177800" algn="l">
              <a:lnSpc>
                <a:spcPct val="112000"/>
              </a:lnSpc>
              <a:spcAft>
                <a:spcPts val="600"/>
              </a:spcAft>
              <a:buSzPct val="100000"/>
              <a:buChar char="●"/>
            </a:pPr>
            <a:r>
              <a:rPr lang="en-US" sz="1150" dirty="0">
                <a:solidFill>
                  <a:srgbClr val="26313F"/>
                </a:solidFill>
                <a:latin typeface="Calibri" pitchFamily="34" charset="0"/>
                <a:ea typeface="Calibri" pitchFamily="34" charset="-122"/>
                <a:cs typeface="Calibri" pitchFamily="34" charset="-120"/>
              </a:rPr>
              <a:t>To your estate, or directly to an individual – depends on tax, timing (estate pay-outs are slower) and your intentions</a:t>
            </a:r>
            <a:endParaRPr lang="en-US" sz="1150" dirty="0"/>
          </a:p>
          <a:p>
            <a:pPr marL="177800" indent="-177800" algn="l">
              <a:lnSpc>
                <a:spcPct val="112000"/>
              </a:lnSpc>
              <a:spcAft>
                <a:spcPts val="600"/>
              </a:spcAft>
              <a:buSzPct val="100000"/>
              <a:buChar char="●"/>
            </a:pPr>
            <a:r>
              <a:rPr lang="en-US" sz="1150" dirty="0">
                <a:solidFill>
                  <a:srgbClr val="26313F"/>
                </a:solidFill>
                <a:latin typeface="Calibri" pitchFamily="34" charset="0"/>
                <a:ea typeface="Calibri" pitchFamily="34" charset="-122"/>
                <a:cs typeface="Calibri" pitchFamily="34" charset="-120"/>
              </a:rPr>
              <a:t>Transfer balance cap may need consideration</a:t>
            </a:r>
            <a:endParaRPr lang="en-US" sz="1150" dirty="0"/>
          </a:p>
          <a:p>
            <a:pPr marL="177800" indent="-177800" algn="l">
              <a:lnSpc>
                <a:spcPct val="112000"/>
              </a:lnSpc>
              <a:spcAft>
                <a:spcPts val="600"/>
              </a:spcAft>
              <a:buSzPct val="100000"/>
              <a:buChar char="●"/>
            </a:pPr>
            <a:r>
              <a:rPr lang="en-US" sz="1150" dirty="0">
                <a:solidFill>
                  <a:srgbClr val="26313F"/>
                </a:solidFill>
                <a:latin typeface="Calibri" pitchFamily="34" charset="0"/>
                <a:ea typeface="Calibri" pitchFamily="34" charset="-122"/>
                <a:cs typeface="Calibri" pitchFamily="34" charset="-120"/>
              </a:rPr>
              <a:t>SMSF: a lawyer should review the governing documents, follow the procedure and consider control mechanisms</a:t>
            </a:r>
            <a:endParaRPr lang="en-US" sz="1150" dirty="0"/>
          </a:p>
          <a:p>
            <a:pPr marL="177800" indent="-177800" algn="l">
              <a:lnSpc>
                <a:spcPct val="112000"/>
              </a:lnSpc>
              <a:spcAft>
                <a:spcPts val="600"/>
              </a:spcAft>
              <a:buSzPct val="100000"/>
              <a:buChar char="●"/>
            </a:pPr>
            <a:r>
              <a:rPr lang="en-US" sz="1150" dirty="0">
                <a:solidFill>
                  <a:srgbClr val="26313F"/>
                </a:solidFill>
                <a:latin typeface="Calibri" pitchFamily="34" charset="0"/>
                <a:ea typeface="Calibri" pitchFamily="34" charset="-122"/>
                <a:cs typeface="Calibri" pitchFamily="34" charset="-120"/>
              </a:rPr>
              <a:t>Consider a binding nomination to remove ambiguity or dispute</a:t>
            </a:r>
            <a:endParaRPr lang="en-US" sz="1150" dirty="0"/>
          </a:p>
        </p:txBody>
      </p:sp>
      <p:sp>
        <p:nvSpPr>
          <p:cNvPr id="6" name="Text 4"/>
          <p:cNvSpPr/>
          <p:nvPr/>
        </p:nvSpPr>
        <p:spPr>
          <a:xfrm>
            <a:off x="6400800" y="1188720"/>
            <a:ext cx="5242255" cy="320040"/>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Tax on death benefits</a:t>
            </a:r>
            <a:endParaRPr lang="en-US" sz="1500" dirty="0"/>
          </a:p>
        </p:txBody>
      </p:sp>
      <p:sp>
        <p:nvSpPr>
          <p:cNvPr id="7" name="Text 5"/>
          <p:cNvSpPr/>
          <p:nvPr/>
        </p:nvSpPr>
        <p:spPr>
          <a:xfrm>
            <a:off x="6400800" y="1572768"/>
            <a:ext cx="5242255" cy="36576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Super is broken into tax-free and taxable components.</a:t>
            </a:r>
            <a:endParaRPr lang="en-US" sz="125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6400800" y="2011680"/>
          <a:ext cx="5242255" cy="2103120"/>
        </p:xfrm>
        <a:graphic>
          <a:graphicData uri="http://schemas.openxmlformats.org/drawingml/2006/table">
            <a:tbl>
              <a:tblPr/>
              <a:tblGrid>
                <a:gridCol w="1887212">
                  <a:extLst>
                    <a:ext uri="{9D8B030D-6E8A-4147-A177-3AD203B41FA5}">
                      <a16:colId xmlns:a16="http://schemas.microsoft.com/office/drawing/2014/main" val="20000"/>
                    </a:ext>
                  </a:extLst>
                </a:gridCol>
                <a:gridCol w="3355043">
                  <a:extLst>
                    <a:ext uri="{9D8B030D-6E8A-4147-A177-3AD203B41FA5}">
                      <a16:colId xmlns:a16="http://schemas.microsoft.com/office/drawing/2014/main" val="20001"/>
                    </a:ext>
                  </a:extLst>
                </a:gridCol>
              </a:tblGrid>
              <a:tr h="70104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Recipient</a:t>
                      </a:r>
                      <a:endParaRPr lang="en-US" sz="11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Tax treatment</a:t>
                      </a:r>
                      <a:endParaRPr lang="en-US" sz="11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701040">
                <a:tc>
                  <a:txBody>
                    <a:bodyPr/>
                    <a:lstStyle/>
                    <a:p>
                      <a:pPr marL="0" indent="0" algn="l">
                        <a:buNone/>
                      </a:pPr>
                      <a:r>
                        <a:rPr lang="en-US" sz="1100" dirty="0">
                          <a:solidFill>
                            <a:srgbClr val="26313F"/>
                          </a:solidFill>
                          <a:latin typeface="Calibri" pitchFamily="34" charset="0"/>
                          <a:ea typeface="Calibri" pitchFamily="34" charset="-122"/>
                          <a:cs typeface="Calibri" pitchFamily="34" charset="-120"/>
                        </a:rPr>
                        <a:t>Spouse, minor children, dependants</a:t>
                      </a:r>
                      <a:endParaRPr lang="en-US" sz="11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26313F"/>
                          </a:solidFill>
                          <a:latin typeface="Calibri" pitchFamily="34" charset="0"/>
                          <a:ea typeface="Calibri" pitchFamily="34" charset="-122"/>
                          <a:cs typeface="Calibri" pitchFamily="34" charset="-120"/>
                        </a:rPr>
                        <a:t>Both components received completely tax-free</a:t>
                      </a:r>
                      <a:endParaRPr lang="en-US" sz="11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01040">
                <a:tc>
                  <a:txBody>
                    <a:bodyPr/>
                    <a:lstStyle/>
                    <a:p>
                      <a:pPr marL="0" indent="0" algn="l">
                        <a:buNone/>
                      </a:pPr>
                      <a:r>
                        <a:rPr lang="en-US" sz="1100" dirty="0">
                          <a:solidFill>
                            <a:srgbClr val="26313F"/>
                          </a:solidFill>
                          <a:latin typeface="Calibri" pitchFamily="34" charset="0"/>
                          <a:ea typeface="Calibri" pitchFamily="34" charset="-122"/>
                          <a:cs typeface="Calibri" pitchFamily="34" charset="-120"/>
                        </a:rPr>
                        <a:t>Everyone else (incl. adult independent children)</a:t>
                      </a:r>
                      <a:endParaRPr lang="en-US" sz="11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100" dirty="0">
                          <a:solidFill>
                            <a:srgbClr val="26313F"/>
                          </a:solidFill>
                          <a:latin typeface="Calibri" pitchFamily="34" charset="0"/>
                          <a:ea typeface="Calibri" pitchFamily="34" charset="-122"/>
                          <a:cs typeface="Calibri" pitchFamily="34" charset="-120"/>
                        </a:rPr>
                        <a:t>Tax-free stays tax-free. Taxable: 15% + Medicare (direct), 15% (via estate), or 30% in certain circumstances</a:t>
                      </a:r>
                      <a:endParaRPr lang="en-US" sz="11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bl>
          </a:graphicData>
        </a:graphic>
      </p:graphicFrame>
      <p:sp>
        <p:nvSpPr>
          <p:cNvPr id="9" name="Text 6"/>
          <p:cNvSpPr/>
          <p:nvPr/>
        </p:nvSpPr>
        <p:spPr>
          <a:xfrm>
            <a:off x="6400800" y="4343400"/>
            <a:ext cx="5242255" cy="73152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If paid to the estate, whether it’s taxed depends on who ultimately benefits (a ‘look-through’ approach).</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Jointly held assets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Shape 2"/>
          <p:cNvSpPr/>
          <p:nvPr/>
        </p:nvSpPr>
        <p:spPr>
          <a:xfrm>
            <a:off x="548640" y="1325880"/>
            <a:ext cx="5318608" cy="2743200"/>
          </a:xfrm>
          <a:prstGeom prst="roundRect">
            <a:avLst>
              <a:gd name="adj" fmla="val 2667"/>
            </a:avLst>
          </a:prstGeom>
          <a:solidFill>
            <a:srgbClr val="E9EDF4"/>
          </a:solidFill>
          <a:ln/>
        </p:spPr>
        <p:txBody>
          <a:bodyPr/>
          <a:lstStyle/>
          <a:p>
            <a:endParaRPr lang="en-AU"/>
          </a:p>
        </p:txBody>
      </p:sp>
      <p:sp>
        <p:nvSpPr>
          <p:cNvPr id="5" name="Shape 3"/>
          <p:cNvSpPr/>
          <p:nvPr/>
        </p:nvSpPr>
        <p:spPr>
          <a:xfrm>
            <a:off x="6324448" y="1325880"/>
            <a:ext cx="5318608" cy="2743200"/>
          </a:xfrm>
          <a:prstGeom prst="roundRect">
            <a:avLst>
              <a:gd name="adj" fmla="val 2667"/>
            </a:avLst>
          </a:prstGeom>
          <a:solidFill>
            <a:srgbClr val="E9EDF4"/>
          </a:solidFill>
          <a:ln/>
        </p:spPr>
        <p:txBody>
          <a:bodyPr/>
          <a:lstStyle/>
          <a:p>
            <a:endParaRPr lang="en-AU"/>
          </a:p>
        </p:txBody>
      </p:sp>
      <p:sp>
        <p:nvSpPr>
          <p:cNvPr id="6" name="Text 4"/>
          <p:cNvSpPr/>
          <p:nvPr/>
        </p:nvSpPr>
        <p:spPr>
          <a:xfrm>
            <a:off x="822960"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Joint tenants</a:t>
            </a:r>
            <a:endParaRPr lang="en-US" sz="1600" dirty="0"/>
          </a:p>
        </p:txBody>
      </p:sp>
      <p:sp>
        <p:nvSpPr>
          <p:cNvPr id="7" name="Text 5"/>
          <p:cNvSpPr/>
          <p:nvPr/>
        </p:nvSpPr>
        <p:spPr>
          <a:xfrm>
            <a:off x="6598768"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Tenants in common</a:t>
            </a:r>
            <a:endParaRPr lang="en-US" sz="1600" dirty="0"/>
          </a:p>
        </p:txBody>
      </p:sp>
      <p:sp>
        <p:nvSpPr>
          <p:cNvPr id="8" name="Text 6"/>
          <p:cNvSpPr/>
          <p:nvPr/>
        </p:nvSpPr>
        <p:spPr>
          <a:xfrm>
            <a:off x="822960" y="1984248"/>
            <a:ext cx="4769968" cy="182880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Rule of survivorship</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Death of a co-owner means the surviving co-owner automatically receives the asset</a:t>
            </a:r>
            <a:endParaRPr lang="en-US" sz="1250" dirty="0"/>
          </a:p>
        </p:txBody>
      </p:sp>
      <p:sp>
        <p:nvSpPr>
          <p:cNvPr id="9" name="Text 7"/>
          <p:cNvSpPr/>
          <p:nvPr/>
        </p:nvSpPr>
        <p:spPr>
          <a:xfrm>
            <a:off x="6598768" y="1984248"/>
            <a:ext cx="4769968" cy="182880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Each co-owner owns a specific percentage in the asset (e.g. 50%, 99%) – all percentages add to 100%</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Death of a co-owner means their share goes into their Will</a:t>
            </a:r>
            <a:endParaRPr lang="en-US" sz="1250" dirty="0"/>
          </a:p>
        </p:txBody>
      </p:sp>
      <p:sp>
        <p:nvSpPr>
          <p:cNvPr id="10" name="Text 8"/>
          <p:cNvSpPr/>
          <p:nvPr/>
        </p:nvSpPr>
        <p:spPr>
          <a:xfrm>
            <a:off x="548640" y="4343400"/>
            <a:ext cx="11094415" cy="45720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Assets can be held jointly in different ways – it’s worth considering whether one manner suits you better than another.</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Trust, company &amp; business assets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371600"/>
          <a:ext cx="11091672" cy="3749040"/>
        </p:xfrm>
        <a:graphic>
          <a:graphicData uri="http://schemas.openxmlformats.org/drawingml/2006/table">
            <a:tbl>
              <a:tblPr/>
              <a:tblGrid>
                <a:gridCol w="19202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937260">
                <a:tc>
                  <a:txBody>
                    <a:bodyPr/>
                    <a:lstStyle/>
                    <a:p>
                      <a:pPr marL="0" indent="0" algn="l">
                        <a:buNone/>
                      </a:pP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Trust</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Company</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250" b="1" dirty="0">
                          <a:solidFill>
                            <a:srgbClr val="FFFFFF"/>
                          </a:solidFill>
                          <a:latin typeface="Calibri" pitchFamily="34" charset="0"/>
                          <a:ea typeface="Calibri" pitchFamily="34" charset="-122"/>
                          <a:cs typeface="Calibri" pitchFamily="34" charset="-120"/>
                        </a:rPr>
                        <a:t>Business / partnership</a:t>
                      </a:r>
                      <a:endParaRPr lang="en-US" sz="12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937260">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Governing document</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Trust deed (or trust law if unclear)</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Company constitution</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Partnership deed / shareholders or unitholders agreement, buy-sell deed</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37260">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Who controls it</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The trustee or appointor</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Directors enforce the rules; shareholders can dictate who the directors are</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Depends on how the business is owned</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937260">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On your passing</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Can’t pass the trust asset directly – control passes per the trust deed’s ‘rule book’</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The company doesn’t pass away with you – the question is who becomes the shareholder</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200" dirty="0">
                          <a:solidFill>
                            <a:srgbClr val="26313F"/>
                          </a:solidFill>
                          <a:latin typeface="Calibri" pitchFamily="34" charset="0"/>
                          <a:ea typeface="Calibri" pitchFamily="34" charset="-122"/>
                          <a:cs typeface="Calibri" pitchFamily="34" charset="-120"/>
                        </a:rPr>
                        <a:t>Consider what happens if a key person passes away</a:t>
                      </a:r>
                      <a:endParaRPr lang="en-US" sz="12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5" name="Text 2"/>
          <p:cNvSpPr/>
          <p:nvPr/>
        </p:nvSpPr>
        <p:spPr>
          <a:xfrm>
            <a:off x="548640" y="5257800"/>
            <a:ext cx="11094415" cy="64008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If your intentions differ from the existing rule book, changes are needed and it should be reviewed. Where there are multiple owners, all parties should be part of the succession discussion.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Overseas assets &amp; other issues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Shape 2"/>
          <p:cNvSpPr/>
          <p:nvPr/>
        </p:nvSpPr>
        <p:spPr>
          <a:xfrm>
            <a:off x="548640" y="1325880"/>
            <a:ext cx="5318608" cy="5074920"/>
          </a:xfrm>
          <a:prstGeom prst="roundRect">
            <a:avLst>
              <a:gd name="adj" fmla="val 1441"/>
            </a:avLst>
          </a:prstGeom>
          <a:solidFill>
            <a:srgbClr val="E9EDF4"/>
          </a:solidFill>
          <a:ln/>
        </p:spPr>
        <p:txBody>
          <a:bodyPr/>
          <a:lstStyle/>
          <a:p>
            <a:endParaRPr lang="en-AU"/>
          </a:p>
        </p:txBody>
      </p:sp>
      <p:sp>
        <p:nvSpPr>
          <p:cNvPr id="5" name="Shape 3"/>
          <p:cNvSpPr/>
          <p:nvPr/>
        </p:nvSpPr>
        <p:spPr>
          <a:xfrm>
            <a:off x="6324448" y="1325880"/>
            <a:ext cx="5318608" cy="5074920"/>
          </a:xfrm>
          <a:prstGeom prst="roundRect">
            <a:avLst>
              <a:gd name="adj" fmla="val 1441"/>
            </a:avLst>
          </a:prstGeom>
          <a:solidFill>
            <a:srgbClr val="E9EDF4"/>
          </a:solidFill>
          <a:ln/>
        </p:spPr>
        <p:txBody>
          <a:bodyPr/>
          <a:lstStyle/>
          <a:p>
            <a:endParaRPr lang="en-AU"/>
          </a:p>
        </p:txBody>
      </p:sp>
      <p:sp>
        <p:nvSpPr>
          <p:cNvPr id="6" name="Text 4"/>
          <p:cNvSpPr/>
          <p:nvPr/>
        </p:nvSpPr>
        <p:spPr>
          <a:xfrm>
            <a:off x="822960"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Overseas assets / beneficiaries</a:t>
            </a:r>
            <a:endParaRPr lang="en-US" sz="1600" dirty="0"/>
          </a:p>
        </p:txBody>
      </p:sp>
      <p:sp>
        <p:nvSpPr>
          <p:cNvPr id="7" name="Text 5"/>
          <p:cNvSpPr/>
          <p:nvPr/>
        </p:nvSpPr>
        <p:spPr>
          <a:xfrm>
            <a:off x="6598768"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Other issues to consider</a:t>
            </a:r>
            <a:endParaRPr lang="en-US" sz="1600" dirty="0"/>
          </a:p>
        </p:txBody>
      </p:sp>
      <p:sp>
        <p:nvSpPr>
          <p:cNvPr id="8" name="Text 6"/>
          <p:cNvSpPr/>
          <p:nvPr/>
        </p:nvSpPr>
        <p:spPr>
          <a:xfrm>
            <a:off x="822960"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Get a Will in that country!</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Consider tax issues for overseas beneficiaries (CGT event K3)</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FIRB and other surcharges may apply for ‘foreign persons’</a:t>
            </a:r>
            <a:endParaRPr lang="en-US" sz="1250" dirty="0"/>
          </a:p>
        </p:txBody>
      </p:sp>
      <p:sp>
        <p:nvSpPr>
          <p:cNvPr id="9" name="Text 7"/>
          <p:cNvSpPr/>
          <p:nvPr/>
        </p:nvSpPr>
        <p:spPr>
          <a:xfrm>
            <a:off x="6598768"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Funeral arrangements (recommended in a memo of directions)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Digital assets (pass under Will, or licence only)</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Intellectual property (artwork, music, etc.), cryptocurrencies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Loan accounts, liabilities and personal guarantees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Life interests, binding financial agreements, other agreements</a:t>
            </a:r>
            <a:endParaRPr lang="en-US" sz="12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Flexibility &amp; memo of directions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Shape 2"/>
          <p:cNvSpPr/>
          <p:nvPr/>
        </p:nvSpPr>
        <p:spPr>
          <a:xfrm>
            <a:off x="548640" y="1325880"/>
            <a:ext cx="5318608" cy="5074920"/>
          </a:xfrm>
          <a:prstGeom prst="roundRect">
            <a:avLst>
              <a:gd name="adj" fmla="val 1441"/>
            </a:avLst>
          </a:prstGeom>
          <a:solidFill>
            <a:srgbClr val="E9EDF4"/>
          </a:solidFill>
          <a:ln/>
        </p:spPr>
        <p:txBody>
          <a:bodyPr/>
          <a:lstStyle/>
          <a:p>
            <a:endParaRPr lang="en-AU"/>
          </a:p>
        </p:txBody>
      </p:sp>
      <p:sp>
        <p:nvSpPr>
          <p:cNvPr id="5" name="Shape 3"/>
          <p:cNvSpPr/>
          <p:nvPr/>
        </p:nvSpPr>
        <p:spPr>
          <a:xfrm>
            <a:off x="6324448" y="1325880"/>
            <a:ext cx="5318608" cy="5074920"/>
          </a:xfrm>
          <a:prstGeom prst="roundRect">
            <a:avLst>
              <a:gd name="adj" fmla="val 1441"/>
            </a:avLst>
          </a:prstGeom>
          <a:solidFill>
            <a:srgbClr val="E9EDF4"/>
          </a:solidFill>
          <a:ln/>
        </p:spPr>
        <p:txBody>
          <a:bodyPr/>
          <a:lstStyle/>
          <a:p>
            <a:endParaRPr lang="en-AU"/>
          </a:p>
        </p:txBody>
      </p:sp>
      <p:sp>
        <p:nvSpPr>
          <p:cNvPr id="6" name="Text 4"/>
          <p:cNvSpPr/>
          <p:nvPr/>
        </p:nvSpPr>
        <p:spPr>
          <a:xfrm>
            <a:off x="822960"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Flexibility</a:t>
            </a:r>
            <a:endParaRPr lang="en-US" sz="1600" dirty="0"/>
          </a:p>
        </p:txBody>
      </p:sp>
      <p:sp>
        <p:nvSpPr>
          <p:cNvPr id="7" name="Text 5"/>
          <p:cNvSpPr/>
          <p:nvPr/>
        </p:nvSpPr>
        <p:spPr>
          <a:xfrm>
            <a:off x="6598768"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Memo of directions</a:t>
            </a:r>
            <a:endParaRPr lang="en-US" sz="1600" dirty="0"/>
          </a:p>
        </p:txBody>
      </p:sp>
      <p:sp>
        <p:nvSpPr>
          <p:cNvPr id="8" name="Text 6"/>
          <p:cNvSpPr/>
          <p:nvPr/>
        </p:nvSpPr>
        <p:spPr>
          <a:xfrm>
            <a:off x="822960"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How flexible do you want to leave things? The more ‘set in stone’, the more complicated it is to implement</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We’ve discussed giving assets directly vs passing control – control has benefits, but also disadvantages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Think: if the people in control could take the assets for themselves, would you trust them not to?</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If not: keep things simpler, appoint multiple people, or include an independent person</a:t>
            </a:r>
            <a:endParaRPr lang="en-US" sz="1250" dirty="0"/>
          </a:p>
        </p:txBody>
      </p:sp>
      <p:sp>
        <p:nvSpPr>
          <p:cNvPr id="9" name="Text 7"/>
          <p:cNvSpPr/>
          <p:nvPr/>
        </p:nvSpPr>
        <p:spPr>
          <a:xfrm>
            <a:off x="6598768"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A ‘guideline’ document – can be a blank page, or the template we provide</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Lets you outline your thinking without fear of being too restrictive; wording can be personal and ‘lax’</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Gives those looking after your affairs something to refer to</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Non-binding – lets those in control adapt if directions aren’t appropriate at the time (we’re not mind readers!)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Keep a signed copy with your Will, and consider circulating it to key persons</a:t>
            </a:r>
            <a:endParaRPr lang="en-US" sz="12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Will</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188720"/>
            <a:ext cx="11094415" cy="32004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Two general types of Will:</a:t>
            </a:r>
            <a:endParaRPr lang="en-US" sz="1250" dirty="0"/>
          </a:p>
        </p:txBody>
      </p:sp>
      <p:sp>
        <p:nvSpPr>
          <p:cNvPr id="5" name="Text 3"/>
          <p:cNvSpPr/>
          <p:nvPr/>
        </p:nvSpPr>
        <p:spPr>
          <a:xfrm>
            <a:off x="548640" y="1645920"/>
            <a:ext cx="11094415" cy="4206240"/>
          </a:xfrm>
          <a:prstGeom prst="rect">
            <a:avLst/>
          </a:prstGeom>
          <a:noFill/>
          <a:ln/>
        </p:spPr>
        <p:txBody>
          <a:bodyPr wrap="square" lIns="0" tIns="0" rIns="0" bIns="0" rtlCol="0" anchor="t"/>
          <a:lstStyle/>
          <a:p>
            <a:pPr marL="177800" indent="-177800" algn="l">
              <a:lnSpc>
                <a:spcPct val="112000"/>
              </a:lnSpc>
              <a:spcAft>
                <a:spcPts val="1600"/>
              </a:spcAft>
              <a:buSzPct val="100000"/>
              <a:buChar char="●"/>
            </a:pPr>
            <a:r>
              <a:rPr lang="en-US" sz="1600" dirty="0">
                <a:solidFill>
                  <a:srgbClr val="26313F"/>
                </a:solidFill>
                <a:latin typeface="Calibri" pitchFamily="34" charset="0"/>
                <a:ea typeface="Calibri" pitchFamily="34" charset="-122"/>
                <a:cs typeface="Calibri" pitchFamily="34" charset="-120"/>
              </a:rPr>
              <a:t>‘Simple’ Will – gives the assets that go into your Will directly to people (maybe with some conditions attaching)</a:t>
            </a:r>
            <a:endParaRPr lang="en-US" sz="1600" dirty="0"/>
          </a:p>
          <a:p>
            <a:pPr marL="177800" indent="-177800" algn="l">
              <a:lnSpc>
                <a:spcPct val="112000"/>
              </a:lnSpc>
              <a:spcAft>
                <a:spcPts val="1600"/>
              </a:spcAft>
              <a:buSzPct val="100000"/>
              <a:buChar char="●"/>
            </a:pPr>
            <a:r>
              <a:rPr lang="en-US" sz="1600" dirty="0">
                <a:solidFill>
                  <a:srgbClr val="26313F"/>
                </a:solidFill>
                <a:latin typeface="Calibri" pitchFamily="34" charset="0"/>
                <a:ea typeface="Calibri" pitchFamily="34" charset="-122"/>
                <a:cs typeface="Calibri" pitchFamily="34" charset="-120"/>
              </a:rPr>
              <a:t>‘Testamentary trust’ Will – gives chosen assets into a special structure that can be used for the benefit of a range of people; offers added benefits in exchange for more complexity</a:t>
            </a:r>
            <a:endParaRPr lang="en-US" sz="1600" dirty="0"/>
          </a:p>
          <a:p>
            <a:pPr marL="177800" indent="-177800" algn="l">
              <a:lnSpc>
                <a:spcPct val="112000"/>
              </a:lnSpc>
              <a:spcAft>
                <a:spcPts val="1600"/>
              </a:spcAft>
              <a:buSzPct val="100000"/>
              <a:buChar char="●"/>
            </a:pPr>
            <a:r>
              <a:rPr lang="en-US" sz="1600" dirty="0">
                <a:solidFill>
                  <a:srgbClr val="26313F"/>
                </a:solidFill>
                <a:latin typeface="Calibri" pitchFamily="34" charset="0"/>
                <a:ea typeface="Calibri" pitchFamily="34" charset="-122"/>
                <a:cs typeface="Calibri" pitchFamily="34" charset="-120"/>
              </a:rPr>
              <a:t>We’ll discuss the advantages and disadvantages of each approach, and recommend what should suit you</a:t>
            </a:r>
            <a:endParaRPr lang="en-US" sz="1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What is a testamentary trust?</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143000"/>
            <a:ext cx="11094415" cy="50292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A ‘trust’ is a relationship where somebody legally (the trustee) holds something (assets in the trust) for others’ benefit (the beneficiaries).</a:t>
            </a:r>
            <a:endParaRPr lang="en-US" sz="1250" dirty="0"/>
          </a:p>
        </p:txBody>
      </p:sp>
      <p:sp>
        <p:nvSpPr>
          <p:cNvPr id="5" name="Shape 3"/>
          <p:cNvSpPr/>
          <p:nvPr/>
        </p:nvSpPr>
        <p:spPr>
          <a:xfrm>
            <a:off x="548640" y="1737360"/>
            <a:ext cx="5318608" cy="4114800"/>
          </a:xfrm>
          <a:prstGeom prst="roundRect">
            <a:avLst>
              <a:gd name="adj" fmla="val 1778"/>
            </a:avLst>
          </a:prstGeom>
          <a:solidFill>
            <a:srgbClr val="E9EDF4"/>
          </a:solidFill>
          <a:ln/>
        </p:spPr>
        <p:txBody>
          <a:bodyPr/>
          <a:lstStyle/>
          <a:p>
            <a:endParaRPr lang="en-AU"/>
          </a:p>
        </p:txBody>
      </p:sp>
      <p:sp>
        <p:nvSpPr>
          <p:cNvPr id="6" name="Shape 4"/>
          <p:cNvSpPr/>
          <p:nvPr/>
        </p:nvSpPr>
        <p:spPr>
          <a:xfrm>
            <a:off x="6324448" y="1737360"/>
            <a:ext cx="5318608" cy="4114800"/>
          </a:xfrm>
          <a:prstGeom prst="roundRect">
            <a:avLst>
              <a:gd name="adj" fmla="val 1778"/>
            </a:avLst>
          </a:prstGeom>
          <a:solidFill>
            <a:srgbClr val="E9EDF4"/>
          </a:solidFill>
          <a:ln/>
        </p:spPr>
        <p:txBody>
          <a:bodyPr/>
          <a:lstStyle/>
          <a:p>
            <a:endParaRPr lang="en-AU"/>
          </a:p>
        </p:txBody>
      </p:sp>
      <p:sp>
        <p:nvSpPr>
          <p:cNvPr id="7" name="Text 5"/>
          <p:cNvSpPr/>
          <p:nvPr/>
        </p:nvSpPr>
        <p:spPr>
          <a:xfrm>
            <a:off x="822960" y="193852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The basics</a:t>
            </a:r>
            <a:endParaRPr lang="en-US" sz="1600" dirty="0"/>
          </a:p>
        </p:txBody>
      </p:sp>
      <p:sp>
        <p:nvSpPr>
          <p:cNvPr id="8" name="Text 6"/>
          <p:cNvSpPr/>
          <p:nvPr/>
        </p:nvSpPr>
        <p:spPr>
          <a:xfrm>
            <a:off x="6598768" y="193852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Protection</a:t>
            </a:r>
            <a:endParaRPr lang="en-US" sz="1600" dirty="0"/>
          </a:p>
        </p:txBody>
      </p:sp>
      <p:sp>
        <p:nvSpPr>
          <p:cNvPr id="9" name="Text 7"/>
          <p:cNvSpPr/>
          <p:nvPr/>
        </p:nvSpPr>
        <p:spPr>
          <a:xfrm>
            <a:off x="822960" y="2395728"/>
            <a:ext cx="4769968" cy="320040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‘Testamentary’ – created after you pass away; the assets form part of your Will</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Lasts 80 years in all Australian jurisdictions other than South Australia (unlimited) and Queensland (125 years)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Beneficiary class limited to named persons and lineal descendants</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May exclude foreign persons if property passes into the trust</a:t>
            </a:r>
            <a:endParaRPr lang="en-US" sz="1250" dirty="0"/>
          </a:p>
        </p:txBody>
      </p:sp>
      <p:sp>
        <p:nvSpPr>
          <p:cNvPr id="10" name="Text 8"/>
          <p:cNvSpPr/>
          <p:nvPr/>
        </p:nvSpPr>
        <p:spPr>
          <a:xfrm>
            <a:off x="6598768" y="2395728"/>
            <a:ext cx="4769968" cy="320040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The greater the divide between trustee and beneficiary, the stronger the protection</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Impossible to structure perfectly without predicting the future</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An initial set-up in the Will lets recipients restructure at the appropriate time</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If there’s a known threat, we can structure the trust from the outset</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Again – the less control beneficiaries have, the greater the protection</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Family law case – Bernard</a:t>
            </a:r>
            <a:endParaRPr lang="en-US" sz="1250" dirty="0"/>
          </a:p>
        </p:txBody>
      </p:sp>
      <p:sp>
        <p:nvSpPr>
          <p:cNvPr id="11" name="Text 9"/>
          <p:cNvSpPr/>
          <p:nvPr/>
        </p:nvSpPr>
        <p:spPr>
          <a:xfrm>
            <a:off x="548640" y="5943600"/>
            <a:ext cx="11094415" cy="36576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If this concept isn’t landing after these slides, let us know – this structure may not suit you.</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Benefits and disadvantages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206240"/>
        </p:xfrm>
        <a:graphic>
          <a:graphicData uri="http://schemas.openxmlformats.org/drawingml/2006/table">
            <a:tbl>
              <a:tblPr/>
              <a:tblGrid>
                <a:gridCol w="32918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3319272">
                  <a:extLst>
                    <a:ext uri="{9D8B030D-6E8A-4147-A177-3AD203B41FA5}">
                      <a16:colId xmlns:a16="http://schemas.microsoft.com/office/drawing/2014/main" val="20002"/>
                    </a:ext>
                  </a:extLst>
                </a:gridCol>
              </a:tblGrid>
              <a:tr h="841248">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Advantages</a:t>
                      </a:r>
                      <a:endParaRPr lang="en-US" sz="13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How</a:t>
                      </a:r>
                      <a:endParaRPr lang="en-US" sz="13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Disadvantages</a:t>
                      </a:r>
                      <a:endParaRPr lang="en-US" sz="13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41248">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Asset protection</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People who may be sued do not receive assets in their name</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Concept can be difficult to understand</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41248">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Flexibility &amp; control over succession</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Mechanisms allow control to be passed down in various ways</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More thought required when preparing your Will</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841248">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Tax planning opportunities</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Ability to distribute to a range of people</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Tax can be tricky to understand</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841248">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Reduced future transaction fees</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Potential tax exemptions available (as at date of this presentation)</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Ongoing administration costs once created</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Testamentary trust &amp; tax planning</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097280"/>
            <a:ext cx="11094415" cy="868680"/>
          </a:xfrm>
          <a:prstGeom prst="rect">
            <a:avLst/>
          </a:prstGeom>
          <a:noFill/>
          <a:ln/>
        </p:spPr>
        <p:txBody>
          <a:bodyPr wrap="square" lIns="0" tIns="0" rIns="0" bIns="0" rtlCol="0" anchor="t"/>
          <a:lstStyle/>
          <a:p>
            <a:pPr marL="177800" indent="-177800" algn="l">
              <a:lnSpc>
                <a:spcPct val="112000"/>
              </a:lnSpc>
              <a:spcAft>
                <a:spcPts val="400"/>
              </a:spcAft>
              <a:buSzPct val="100000"/>
              <a:buChar char="●"/>
            </a:pPr>
            <a:r>
              <a:rPr lang="en-US" sz="1150" dirty="0">
                <a:solidFill>
                  <a:srgbClr val="26313F"/>
                </a:solidFill>
                <a:latin typeface="Calibri" pitchFamily="34" charset="0"/>
                <a:ea typeface="Calibri" pitchFamily="34" charset="-122"/>
                <a:cs typeface="Calibri" pitchFamily="34" charset="-120"/>
              </a:rPr>
              <a:t>Note ‘Genuine’ Testamentary Trusts excluded from proposed 30% Trust Distribution Tax</a:t>
            </a:r>
          </a:p>
          <a:p>
            <a:pPr marL="177800" indent="-177800" algn="l">
              <a:lnSpc>
                <a:spcPct val="112000"/>
              </a:lnSpc>
              <a:spcAft>
                <a:spcPts val="400"/>
              </a:spcAft>
              <a:buSzPct val="100000"/>
              <a:buChar char="●"/>
            </a:pPr>
            <a:r>
              <a:rPr lang="en-US" sz="1150" dirty="0">
                <a:solidFill>
                  <a:srgbClr val="26313F"/>
                </a:solidFill>
                <a:latin typeface="Calibri" pitchFamily="34" charset="0"/>
                <a:ea typeface="Calibri" pitchFamily="34" charset="-122"/>
                <a:cs typeface="Calibri" pitchFamily="34" charset="-120"/>
              </a:rPr>
              <a:t>Requires beneficiaries of the testamentary trust to be limited to individuals and charities (companies and trusts are not included as potential beneficiaries)</a:t>
            </a:r>
          </a:p>
          <a:p>
            <a:pPr marL="177800" indent="-177800" algn="l">
              <a:lnSpc>
                <a:spcPct val="112000"/>
              </a:lnSpc>
              <a:spcAft>
                <a:spcPts val="400"/>
              </a:spcAft>
              <a:buSzPct val="100000"/>
              <a:buChar char="●"/>
            </a:pPr>
            <a:r>
              <a:rPr lang="en-US" sz="1150" dirty="0">
                <a:solidFill>
                  <a:srgbClr val="26313F"/>
                </a:solidFill>
                <a:latin typeface="Calibri" pitchFamily="34" charset="0"/>
                <a:ea typeface="Calibri" pitchFamily="34" charset="-122"/>
                <a:cs typeface="Calibri" pitchFamily="34" charset="-120"/>
              </a:rPr>
              <a:t>Assets outside a deceased’s estate cannot be injected into the testamentary trust (noting only assets of a deceased’s estate forms part of the initial assets of the testamentary trust)</a:t>
            </a:r>
            <a:endParaRPr lang="en-US" sz="1150" dirty="0"/>
          </a:p>
        </p:txBody>
      </p:sp>
      <p:sp>
        <p:nvSpPr>
          <p:cNvPr id="5" name="Text 3"/>
          <p:cNvSpPr/>
          <p:nvPr/>
        </p:nvSpPr>
        <p:spPr>
          <a:xfrm>
            <a:off x="548640" y="2057400"/>
            <a:ext cx="5318608" cy="274320"/>
          </a:xfrm>
          <a:prstGeom prst="rect">
            <a:avLst/>
          </a:prstGeom>
          <a:noFill/>
          <a:ln/>
        </p:spPr>
        <p:txBody>
          <a:bodyPr wrap="square" lIns="0" tIns="0" rIns="0" bIns="0" rtlCol="0" anchor="ctr"/>
          <a:lstStyle/>
          <a:p>
            <a:pPr marL="0" indent="0">
              <a:buNone/>
            </a:pPr>
            <a:r>
              <a:rPr lang="en-US" sz="1300" b="1" dirty="0">
                <a:solidFill>
                  <a:srgbClr val="1B2A4A"/>
                </a:solidFill>
                <a:latin typeface="Cambria" pitchFamily="34" charset="0"/>
                <a:ea typeface="Cambria" pitchFamily="34" charset="-122"/>
                <a:cs typeface="Cambria" pitchFamily="34" charset="-120"/>
              </a:rPr>
              <a:t>Minor receiving distributions from discretionary trust</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2404872"/>
          <a:ext cx="5318607" cy="1371600"/>
        </p:xfrm>
        <a:graphic>
          <a:graphicData uri="http://schemas.openxmlformats.org/drawingml/2006/table">
            <a:tbl>
              <a:tblPr/>
              <a:tblGrid>
                <a:gridCol w="2233815">
                  <a:extLst>
                    <a:ext uri="{9D8B030D-6E8A-4147-A177-3AD203B41FA5}">
                      <a16:colId xmlns:a16="http://schemas.microsoft.com/office/drawing/2014/main" val="20000"/>
                    </a:ext>
                  </a:extLst>
                </a:gridCol>
                <a:gridCol w="3084792">
                  <a:extLst>
                    <a:ext uri="{9D8B030D-6E8A-4147-A177-3AD203B41FA5}">
                      <a16:colId xmlns:a16="http://schemas.microsoft.com/office/drawing/2014/main" val="20001"/>
                    </a:ext>
                  </a:extLst>
                </a:gridCol>
              </a:tblGrid>
              <a:tr h="3429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Income</a:t>
                      </a:r>
                      <a:endParaRPr lang="en-US" sz="11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Tax</a:t>
                      </a:r>
                      <a:endParaRPr lang="en-US" sz="11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342900">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$0 – $416</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Nil</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2900">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$417 – $1,307</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Nil, plus 66% of excess over $416</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342900">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Over $1,307</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45% of income that is not excepted income</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7" name="Text 4"/>
          <p:cNvSpPr/>
          <p:nvPr/>
        </p:nvSpPr>
        <p:spPr>
          <a:xfrm>
            <a:off x="548640" y="3840480"/>
            <a:ext cx="5318608" cy="45720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Excepted income includes income of a trust estate resulting from a Will – s102AG, ITAA 1936.</a:t>
            </a:r>
            <a:endParaRPr lang="en-US" sz="1250" dirty="0"/>
          </a:p>
        </p:txBody>
      </p:sp>
      <p:sp>
        <p:nvSpPr>
          <p:cNvPr id="8" name="Shape 5"/>
          <p:cNvSpPr/>
          <p:nvPr/>
        </p:nvSpPr>
        <p:spPr>
          <a:xfrm>
            <a:off x="548639" y="4389119"/>
            <a:ext cx="5318608" cy="1971569"/>
          </a:xfrm>
          <a:prstGeom prst="roundRect">
            <a:avLst>
              <a:gd name="adj" fmla="val 6667"/>
            </a:avLst>
          </a:prstGeom>
          <a:solidFill>
            <a:srgbClr val="FFFFFF"/>
          </a:solidFill>
          <a:ln w="15875">
            <a:solidFill>
              <a:srgbClr val="D7DEEA"/>
            </a:solidFill>
            <a:prstDash val="dash"/>
          </a:ln>
        </p:spPr>
        <p:txBody>
          <a:bodyPr/>
          <a:lstStyle/>
          <a:p>
            <a:endParaRPr lang="en-AU"/>
          </a:p>
        </p:txBody>
      </p:sp>
      <p:sp>
        <p:nvSpPr>
          <p:cNvPr id="9" name="Text 6"/>
          <p:cNvSpPr/>
          <p:nvPr/>
        </p:nvSpPr>
        <p:spPr>
          <a:xfrm>
            <a:off x="749808" y="4517136"/>
            <a:ext cx="4916272" cy="292608"/>
          </a:xfrm>
          <a:prstGeom prst="rect">
            <a:avLst/>
          </a:prstGeom>
          <a:noFill/>
          <a:ln/>
        </p:spPr>
        <p:txBody>
          <a:bodyPr wrap="square" lIns="0" tIns="0" rIns="0" bIns="0" rtlCol="0" anchor="ctr"/>
          <a:lstStyle/>
          <a:p>
            <a:pPr marL="0" indent="0">
              <a:buNone/>
            </a:pPr>
            <a:r>
              <a:rPr lang="en-US" sz="1050" b="1" kern="0" spc="150" dirty="0">
                <a:solidFill>
                  <a:srgbClr val="AD8A52"/>
                </a:solidFill>
                <a:latin typeface="Calibri" pitchFamily="34" charset="0"/>
                <a:ea typeface="Calibri" pitchFamily="34" charset="-122"/>
                <a:cs typeface="Calibri" pitchFamily="34" charset="-120"/>
              </a:rPr>
              <a:t>No testamentary trust</a:t>
            </a:r>
            <a:endParaRPr lang="en-US" sz="1050" dirty="0"/>
          </a:p>
        </p:txBody>
      </p:sp>
      <p:sp>
        <p:nvSpPr>
          <p:cNvPr id="10" name="Text 7"/>
          <p:cNvSpPr/>
          <p:nvPr/>
        </p:nvSpPr>
        <p:spPr>
          <a:xfrm>
            <a:off x="6324448" y="2057400"/>
            <a:ext cx="5318608" cy="274320"/>
          </a:xfrm>
          <a:prstGeom prst="rect">
            <a:avLst/>
          </a:prstGeom>
          <a:noFill/>
          <a:ln/>
        </p:spPr>
        <p:txBody>
          <a:bodyPr wrap="square" lIns="0" tIns="0" rIns="0" bIns="0" rtlCol="0" anchor="ctr"/>
          <a:lstStyle/>
          <a:p>
            <a:pPr marL="0" indent="0">
              <a:buNone/>
            </a:pPr>
            <a:r>
              <a:rPr lang="en-US" sz="1300" b="1" dirty="0">
                <a:solidFill>
                  <a:srgbClr val="1B2A4A"/>
                </a:solidFill>
                <a:latin typeface="Cambria" pitchFamily="34" charset="0"/>
                <a:ea typeface="Cambria" pitchFamily="34" charset="-122"/>
                <a:cs typeface="Cambria" pitchFamily="34" charset="-120"/>
              </a:rPr>
              <a:t>Minor receiving distribution from ‘genuine’ testamentary trust</a:t>
            </a:r>
            <a:endParaRPr lang="en-US" sz="1300" dirty="0"/>
          </a:p>
        </p:txBody>
      </p:sp>
      <p:graphicFrame>
        <p:nvGraphicFramePr>
          <p:cNvPr id="43" name="Table 1"/>
          <p:cNvGraphicFramePr>
            <a:graphicFrameLocks noGrp="1"/>
          </p:cNvGraphicFramePr>
          <p:nvPr>
            <p:extLst>
              <p:ext uri="{D42A27DB-BD31-4B8C-83A1-F6EECF244321}">
                <p14:modId xmlns:p14="http://schemas.microsoft.com/office/powerpoint/2010/main" val="1579011935"/>
              </p:ext>
            </p:extLst>
          </p:nvPr>
        </p:nvGraphicFramePr>
        <p:xfrm>
          <a:off x="6324448" y="2404872"/>
          <a:ext cx="5318607" cy="1577340"/>
        </p:xfrm>
        <a:graphic>
          <a:graphicData uri="http://schemas.openxmlformats.org/drawingml/2006/table">
            <a:tbl>
              <a:tblPr/>
              <a:tblGrid>
                <a:gridCol w="2233815">
                  <a:extLst>
                    <a:ext uri="{9D8B030D-6E8A-4147-A177-3AD203B41FA5}">
                      <a16:colId xmlns:a16="http://schemas.microsoft.com/office/drawing/2014/main" val="20000"/>
                    </a:ext>
                  </a:extLst>
                </a:gridCol>
                <a:gridCol w="3084792">
                  <a:extLst>
                    <a:ext uri="{9D8B030D-6E8A-4147-A177-3AD203B41FA5}">
                      <a16:colId xmlns:a16="http://schemas.microsoft.com/office/drawing/2014/main" val="20001"/>
                    </a:ext>
                  </a:extLst>
                </a:gridCol>
              </a:tblGrid>
              <a:tr h="22860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Income</a:t>
                      </a:r>
                      <a:endParaRPr lang="en-US" sz="11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Tax</a:t>
                      </a:r>
                      <a:endParaRPr lang="en-US" sz="110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228600">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$0 – $18,200</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Nil</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28600">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$18,201 – $45,000</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16% above $18,200</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228600">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$45,001 – $135,000</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$4,288 + 30% above $45,000</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28600">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$135,001 – $190,000</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$31,288 + 37% above $135,000</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4"/>
                  </a:ext>
                </a:extLst>
              </a:tr>
              <a:tr h="228600">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$190,001+</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26313F"/>
                          </a:solidFill>
                          <a:latin typeface="Calibri" pitchFamily="34" charset="0"/>
                          <a:ea typeface="Calibri" pitchFamily="34" charset="-122"/>
                          <a:cs typeface="Calibri" pitchFamily="34" charset="-120"/>
                        </a:rPr>
                        <a:t>$51,648 + 45% above $190,000</a:t>
                      </a:r>
                      <a:endParaRPr lang="en-US" sz="105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12" name="Shape 8"/>
          <p:cNvSpPr/>
          <p:nvPr/>
        </p:nvSpPr>
        <p:spPr>
          <a:xfrm>
            <a:off x="6324448" y="4389120"/>
            <a:ext cx="5318608" cy="1971568"/>
          </a:xfrm>
          <a:prstGeom prst="roundRect">
            <a:avLst>
              <a:gd name="adj" fmla="val 6667"/>
            </a:avLst>
          </a:prstGeom>
          <a:solidFill>
            <a:srgbClr val="FFFFFF"/>
          </a:solidFill>
          <a:ln w="15875">
            <a:solidFill>
              <a:srgbClr val="D7DEEA"/>
            </a:solidFill>
            <a:prstDash val="dash"/>
          </a:ln>
        </p:spPr>
        <p:txBody>
          <a:bodyPr/>
          <a:lstStyle/>
          <a:p>
            <a:endParaRPr lang="en-AU"/>
          </a:p>
        </p:txBody>
      </p:sp>
      <p:sp>
        <p:nvSpPr>
          <p:cNvPr id="13" name="Text 9"/>
          <p:cNvSpPr/>
          <p:nvPr/>
        </p:nvSpPr>
        <p:spPr>
          <a:xfrm>
            <a:off x="6525616" y="4517136"/>
            <a:ext cx="4916272" cy="292608"/>
          </a:xfrm>
          <a:prstGeom prst="rect">
            <a:avLst/>
          </a:prstGeom>
          <a:noFill/>
          <a:ln/>
        </p:spPr>
        <p:txBody>
          <a:bodyPr wrap="square" lIns="0" tIns="0" rIns="0" bIns="0" rtlCol="0" anchor="ctr"/>
          <a:lstStyle/>
          <a:p>
            <a:pPr marL="0" indent="0">
              <a:buNone/>
            </a:pPr>
            <a:r>
              <a:rPr lang="en-US" sz="1050" b="1" kern="0" spc="150" dirty="0">
                <a:solidFill>
                  <a:srgbClr val="AD8A52"/>
                </a:solidFill>
                <a:latin typeface="Calibri" pitchFamily="34" charset="0"/>
                <a:ea typeface="Calibri" pitchFamily="34" charset="-122"/>
                <a:cs typeface="Calibri" pitchFamily="34" charset="-120"/>
              </a:rPr>
              <a:t>With testamentary trust</a:t>
            </a:r>
            <a:endParaRPr lang="en-US" sz="10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How many testamentary trusts?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4416" cy="4297680"/>
        </p:xfrm>
        <a:graphic>
          <a:graphicData uri="http://schemas.openxmlformats.org/drawingml/2006/table">
            <a:tbl>
              <a:tblPr/>
              <a:tblGrid>
                <a:gridCol w="5547208">
                  <a:extLst>
                    <a:ext uri="{9D8B030D-6E8A-4147-A177-3AD203B41FA5}">
                      <a16:colId xmlns:a16="http://schemas.microsoft.com/office/drawing/2014/main" val="20000"/>
                    </a:ext>
                  </a:extLst>
                </a:gridCol>
                <a:gridCol w="5547208">
                  <a:extLst>
                    <a:ext uri="{9D8B030D-6E8A-4147-A177-3AD203B41FA5}">
                      <a16:colId xmlns:a16="http://schemas.microsoft.com/office/drawing/2014/main" val="20001"/>
                    </a:ext>
                  </a:extLst>
                </a:gridCol>
              </a:tblGrid>
              <a:tr h="71628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Single</a:t>
                      </a:r>
                      <a:endParaRPr lang="en-US" sz="13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Multiple</a:t>
                      </a:r>
                      <a:endParaRPr lang="en-US" sz="13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716280">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Unable to clearly split assets</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Ability to clearly split assets between different trusts</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16280">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Commonly used when benefiting minors – no need for separate trusts</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Beneficiaries have increased autonomy</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r h="716280">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Beneficiaries are able to work together</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Beneficiaries are unable to work together</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16280">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Greater sense of shared purpose</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Beneficiaries have separate personal risk / tax profiles</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4"/>
                  </a:ext>
                </a:extLst>
              </a:tr>
              <a:tr h="716280">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Simpler – only one trust to administer</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Needs sufficient assets to justify each trust (~$400,000 per trust, at least)</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121D33"/>
        </a:solidFill>
        <a:effectLst/>
      </p:bgPr>
    </p:bg>
    <p:spTree>
      <p:nvGrpSpPr>
        <p:cNvPr id="1" name=""/>
        <p:cNvGrpSpPr/>
        <p:nvPr/>
      </p:nvGrpSpPr>
      <p:grpSpPr>
        <a:xfrm>
          <a:off x="0" y="0"/>
          <a:ext cx="0" cy="0"/>
          <a:chOff x="0" y="0"/>
          <a:chExt cx="0" cy="0"/>
        </a:xfrm>
      </p:grpSpPr>
      <p:sp>
        <p:nvSpPr>
          <p:cNvPr id="2" name="Shape 0"/>
          <p:cNvSpPr/>
          <p:nvPr/>
        </p:nvSpPr>
        <p:spPr>
          <a:xfrm>
            <a:off x="9814255" y="-1280160"/>
            <a:ext cx="3840480" cy="3840480"/>
          </a:xfrm>
          <a:prstGeom prst="ellipse">
            <a:avLst/>
          </a:prstGeom>
          <a:solidFill>
            <a:srgbClr val="1B2A4A">
              <a:alpha val="60000"/>
            </a:srgbClr>
          </a:solidFill>
          <a:ln/>
        </p:spPr>
        <p:txBody>
          <a:bodyPr/>
          <a:lstStyle/>
          <a:p>
            <a:endParaRPr lang="en-AU"/>
          </a:p>
        </p:txBody>
      </p:sp>
      <p:sp>
        <p:nvSpPr>
          <p:cNvPr id="3" name="Shape 1"/>
          <p:cNvSpPr/>
          <p:nvPr/>
        </p:nvSpPr>
        <p:spPr>
          <a:xfrm>
            <a:off x="-1463040" y="4846320"/>
            <a:ext cx="3108960" cy="3108960"/>
          </a:xfrm>
          <a:prstGeom prst="ellipse">
            <a:avLst/>
          </a:prstGeom>
          <a:solidFill>
            <a:srgbClr val="1B2A4A">
              <a:alpha val="60000"/>
            </a:srgbClr>
          </a:solidFill>
          <a:ln/>
        </p:spPr>
        <p:txBody>
          <a:bodyPr/>
          <a:lstStyle/>
          <a:p>
            <a:endParaRPr lang="en-AU"/>
          </a:p>
        </p:txBody>
      </p:sp>
      <p:sp>
        <p:nvSpPr>
          <p:cNvPr id="4" name="Text 2"/>
          <p:cNvSpPr/>
          <p:nvPr/>
        </p:nvSpPr>
        <p:spPr>
          <a:xfrm>
            <a:off x="548640" y="2560320"/>
            <a:ext cx="11094415" cy="365760"/>
          </a:xfrm>
          <a:prstGeom prst="rect">
            <a:avLst/>
          </a:prstGeom>
          <a:noFill/>
          <a:ln/>
        </p:spPr>
        <p:txBody>
          <a:bodyPr wrap="square" lIns="0" tIns="0" rIns="0" bIns="0" rtlCol="0" anchor="ctr"/>
          <a:lstStyle/>
          <a:p>
            <a:pPr marL="0" indent="0" algn="l">
              <a:buNone/>
            </a:pPr>
            <a:r>
              <a:rPr lang="en-US" sz="1300" b="1" kern="0" spc="300" dirty="0">
                <a:solidFill>
                  <a:srgbClr val="C7AC7C"/>
                </a:solidFill>
                <a:latin typeface="Calibri" pitchFamily="34" charset="0"/>
                <a:ea typeface="Calibri" pitchFamily="34" charset="-122"/>
                <a:cs typeface="Calibri" pitchFamily="34" charset="-120"/>
              </a:rPr>
              <a:t>SECTION 3</a:t>
            </a:r>
            <a:endParaRPr lang="en-US" sz="1300" dirty="0"/>
          </a:p>
        </p:txBody>
      </p:sp>
      <p:sp>
        <p:nvSpPr>
          <p:cNvPr id="5" name="Shape 3"/>
          <p:cNvSpPr/>
          <p:nvPr/>
        </p:nvSpPr>
        <p:spPr>
          <a:xfrm>
            <a:off x="548640" y="3044952"/>
            <a:ext cx="502920" cy="82296"/>
          </a:xfrm>
          <a:prstGeom prst="rect">
            <a:avLst/>
          </a:prstGeom>
          <a:solidFill>
            <a:srgbClr val="AD8A52"/>
          </a:solidFill>
          <a:ln/>
        </p:spPr>
        <p:txBody>
          <a:bodyPr/>
          <a:lstStyle/>
          <a:p>
            <a:endParaRPr lang="en-AU"/>
          </a:p>
        </p:txBody>
      </p:sp>
      <p:sp>
        <p:nvSpPr>
          <p:cNvPr id="6" name="Text 4"/>
          <p:cNvSpPr/>
          <p:nvPr/>
        </p:nvSpPr>
        <p:spPr>
          <a:xfrm>
            <a:off x="548640" y="3154680"/>
            <a:ext cx="10180015" cy="1280160"/>
          </a:xfrm>
          <a:prstGeom prst="rect">
            <a:avLst/>
          </a:prstGeom>
          <a:noFill/>
          <a:ln/>
        </p:spPr>
        <p:txBody>
          <a:bodyPr wrap="square" lIns="0" tIns="0" rIns="0" bIns="0" rtlCol="0" anchor="t"/>
          <a:lstStyle/>
          <a:p>
            <a:pPr marL="0" indent="0" algn="l">
              <a:buNone/>
            </a:pPr>
            <a:r>
              <a:rPr lang="en-US" sz="3800" b="1" dirty="0">
                <a:solidFill>
                  <a:srgbClr val="FFFFFF"/>
                </a:solidFill>
                <a:latin typeface="Cambria" pitchFamily="34" charset="0"/>
                <a:ea typeface="Cambria" pitchFamily="34" charset="-122"/>
                <a:cs typeface="Cambria" pitchFamily="34" charset="-120"/>
              </a:rPr>
              <a:t>Your estate plan and our advice</a:t>
            </a:r>
            <a:endParaRPr lang="en-US" sz="3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Personal assets – Will</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371600"/>
            <a:ext cx="11094415" cy="4389120"/>
          </a:xfrm>
          <a:prstGeom prst="rect">
            <a:avLst/>
          </a:prstGeom>
          <a:noFill/>
          <a:ln/>
        </p:spPr>
        <p:txBody>
          <a:bodyPr wrap="square" lIns="0" tIns="0" rIns="0" bIns="0" rtlCol="0" anchor="t"/>
          <a:lstStyle/>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Contemplation of marriage or divorce?</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Only governs Australian assets, and revokes Australian Wills</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Testamentary trust used?</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Executor? Guardians?</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Specific gifts? Personal Property*? Everything else?</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Will – executor &amp; guardian</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Shape 2"/>
          <p:cNvSpPr/>
          <p:nvPr/>
        </p:nvSpPr>
        <p:spPr>
          <a:xfrm>
            <a:off x="548640" y="1325880"/>
            <a:ext cx="5318608" cy="2011680"/>
          </a:xfrm>
          <a:prstGeom prst="roundRect">
            <a:avLst>
              <a:gd name="adj" fmla="val 3636"/>
            </a:avLst>
          </a:prstGeom>
          <a:solidFill>
            <a:srgbClr val="E9EDF4"/>
          </a:solidFill>
          <a:ln/>
        </p:spPr>
        <p:txBody>
          <a:bodyPr/>
          <a:lstStyle/>
          <a:p>
            <a:endParaRPr lang="en-AU"/>
          </a:p>
        </p:txBody>
      </p:sp>
      <p:sp>
        <p:nvSpPr>
          <p:cNvPr id="5" name="Shape 3"/>
          <p:cNvSpPr/>
          <p:nvPr/>
        </p:nvSpPr>
        <p:spPr>
          <a:xfrm>
            <a:off x="6324448" y="1325880"/>
            <a:ext cx="5318608" cy="2011680"/>
          </a:xfrm>
          <a:prstGeom prst="roundRect">
            <a:avLst>
              <a:gd name="adj" fmla="val 3636"/>
            </a:avLst>
          </a:prstGeom>
          <a:solidFill>
            <a:srgbClr val="E9EDF4"/>
          </a:solidFill>
          <a:ln/>
        </p:spPr>
        <p:txBody>
          <a:bodyPr/>
          <a:lstStyle/>
          <a:p>
            <a:endParaRPr lang="en-AU"/>
          </a:p>
        </p:txBody>
      </p:sp>
      <p:sp>
        <p:nvSpPr>
          <p:cNvPr id="6" name="Text 4"/>
          <p:cNvSpPr/>
          <p:nvPr/>
        </p:nvSpPr>
        <p:spPr>
          <a:xfrm>
            <a:off x="822960"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Executor</a:t>
            </a:r>
            <a:endParaRPr lang="en-US" sz="1600" dirty="0"/>
          </a:p>
        </p:txBody>
      </p:sp>
      <p:sp>
        <p:nvSpPr>
          <p:cNvPr id="7" name="Text 5"/>
          <p:cNvSpPr/>
          <p:nvPr/>
        </p:nvSpPr>
        <p:spPr>
          <a:xfrm>
            <a:off x="6598768"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Guardian (if required)</a:t>
            </a:r>
            <a:endParaRPr lang="en-US" sz="1600" dirty="0"/>
          </a:p>
        </p:txBody>
      </p:sp>
      <p:sp>
        <p:nvSpPr>
          <p:cNvPr id="8" name="Text 6"/>
          <p:cNvSpPr/>
          <p:nvPr/>
        </p:nvSpPr>
        <p:spPr>
          <a:xfrm>
            <a:off x="822960" y="1984248"/>
            <a:ext cx="4769968" cy="109728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Role can be held jointly – maximum four</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Risk of abuse if one person ‘goes rogue’</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Charging clauses</a:t>
            </a:r>
            <a:endParaRPr lang="en-US" sz="1250" dirty="0"/>
          </a:p>
        </p:txBody>
      </p:sp>
      <p:sp>
        <p:nvSpPr>
          <p:cNvPr id="9" name="Text 7"/>
          <p:cNvSpPr/>
          <p:nvPr/>
        </p:nvSpPr>
        <p:spPr>
          <a:xfrm>
            <a:off x="6598768" y="1984248"/>
            <a:ext cx="4769968" cy="109728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Only relevant where minor children are involved</a:t>
            </a:r>
            <a:endParaRPr lang="en-US" sz="1250" dirty="0"/>
          </a:p>
          <a:p>
            <a:pPr marL="177800" indent="-177800" algn="l">
              <a:lnSpc>
                <a:spcPct val="112000"/>
              </a:lnSpc>
              <a:spcAft>
                <a:spcPts val="500"/>
              </a:spcAft>
              <a:buSzPct val="100000"/>
              <a:buChar char="●"/>
            </a:pPr>
            <a:r>
              <a:rPr lang="en-US" sz="1250" dirty="0">
                <a:solidFill>
                  <a:srgbClr val="26313F"/>
                </a:solidFill>
                <a:latin typeface="Calibri" pitchFamily="34" charset="0"/>
                <a:ea typeface="Calibri" pitchFamily="34" charset="-122"/>
                <a:cs typeface="Calibri" pitchFamily="34" charset="-120"/>
              </a:rPr>
              <a:t>Should reflect who you trust to raise your children</a:t>
            </a:r>
            <a:endParaRPr lang="en-US" sz="125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3657600"/>
          <a:ext cx="11094415" cy="2560320"/>
        </p:xfrm>
        <a:graphic>
          <a:graphicData uri="http://schemas.openxmlformats.org/drawingml/2006/table">
            <a:tbl>
              <a:tblPr/>
              <a:tblGrid>
                <a:gridCol w="2651760">
                  <a:extLst>
                    <a:ext uri="{9D8B030D-6E8A-4147-A177-3AD203B41FA5}">
                      <a16:colId xmlns:a16="http://schemas.microsoft.com/office/drawing/2014/main" val="20000"/>
                    </a:ext>
                  </a:extLst>
                </a:gridCol>
                <a:gridCol w="4221328">
                  <a:extLst>
                    <a:ext uri="{9D8B030D-6E8A-4147-A177-3AD203B41FA5}">
                      <a16:colId xmlns:a16="http://schemas.microsoft.com/office/drawing/2014/main" val="20001"/>
                    </a:ext>
                  </a:extLst>
                </a:gridCol>
                <a:gridCol w="4221328">
                  <a:extLst>
                    <a:ext uri="{9D8B030D-6E8A-4147-A177-3AD203B41FA5}">
                      <a16:colId xmlns:a16="http://schemas.microsoft.com/office/drawing/2014/main" val="20002"/>
                    </a:ext>
                  </a:extLst>
                </a:gridCol>
              </a:tblGrid>
              <a:tr h="85344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Role</a:t>
                      </a:r>
                      <a:endParaRPr lang="en-US" sz="13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Initial</a:t>
                      </a:r>
                      <a:endParaRPr lang="en-US" sz="13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Backup</a:t>
                      </a:r>
                      <a:endParaRPr lang="en-US" sz="13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853440">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Executor</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853440">
                <a:tc>
                  <a:txBody>
                    <a:bodyPr/>
                    <a:lstStyle/>
                    <a:p>
                      <a:pPr marL="0" indent="0" algn="l">
                        <a:buNone/>
                      </a:pPr>
                      <a:r>
                        <a:rPr lang="en-US" sz="1300" dirty="0">
                          <a:solidFill>
                            <a:srgbClr val="26313F"/>
                          </a:solidFill>
                          <a:latin typeface="Calibri" pitchFamily="34" charset="0"/>
                          <a:ea typeface="Calibri" pitchFamily="34" charset="-122"/>
                          <a:cs typeface="Calibri" pitchFamily="34" charset="-120"/>
                        </a:rPr>
                        <a:t>Guardian (if required)</a:t>
                      </a: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tc>
                  <a:txBody>
                    <a:bodyPr/>
                    <a:lstStyle/>
                    <a:p>
                      <a:pPr marL="0" indent="0" algn="l">
                        <a:buNone/>
                      </a:pP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E9EDF4"/>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Will – specific gifts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280160"/>
            <a:ext cx="6309360" cy="3566160"/>
          </a:xfrm>
          <a:prstGeom prst="rect">
            <a:avLst/>
          </a:prstGeom>
          <a:noFill/>
          <a:ln/>
        </p:spPr>
        <p:txBody>
          <a:bodyPr wrap="square" lIns="0" tIns="0" rIns="0" bIns="0" rtlCol="0" anchor="t"/>
          <a:lstStyle/>
          <a:p>
            <a:pPr marL="177800" indent="-177800" algn="l">
              <a:lnSpc>
                <a:spcPct val="112000"/>
              </a:lnSpc>
              <a:spcAft>
                <a:spcPts val="800"/>
              </a:spcAft>
              <a:buSzPct val="100000"/>
              <a:buChar char="●"/>
            </a:pPr>
            <a:r>
              <a:rPr lang="en-US" sz="1250" dirty="0">
                <a:solidFill>
                  <a:srgbClr val="26313F"/>
                </a:solidFill>
                <a:latin typeface="Calibri" pitchFamily="34" charset="0"/>
                <a:ea typeface="Calibri" pitchFamily="34" charset="-122"/>
                <a:cs typeface="Calibri" pitchFamily="34" charset="-120"/>
              </a:rPr>
              <a:t>Given unencumbered or encumbered?</a:t>
            </a:r>
            <a:endParaRPr lang="en-US" sz="1250" dirty="0"/>
          </a:p>
          <a:p>
            <a:pPr marL="177800" indent="-177800" algn="l">
              <a:lnSpc>
                <a:spcPct val="112000"/>
              </a:lnSpc>
              <a:spcAft>
                <a:spcPts val="800"/>
              </a:spcAft>
              <a:buSzPct val="100000"/>
              <a:buChar char="●"/>
            </a:pPr>
            <a:r>
              <a:rPr lang="en-US" sz="1250" dirty="0">
                <a:solidFill>
                  <a:srgbClr val="26313F"/>
                </a:solidFill>
                <a:latin typeface="Calibri" pitchFamily="34" charset="0"/>
                <a:ea typeface="Calibri" pitchFamily="34" charset="-122"/>
                <a:cs typeface="Calibri" pitchFamily="34" charset="-120"/>
              </a:rPr>
              <a:t>With, or without, any income it produces?</a:t>
            </a:r>
            <a:endParaRPr lang="en-US" sz="1250" dirty="0"/>
          </a:p>
          <a:p>
            <a:pPr marL="177800" indent="-177800" algn="l">
              <a:lnSpc>
                <a:spcPct val="112000"/>
              </a:lnSpc>
              <a:spcAft>
                <a:spcPts val="800"/>
              </a:spcAft>
              <a:buSzPct val="100000"/>
              <a:buChar char="●"/>
            </a:pPr>
            <a:r>
              <a:rPr lang="en-US" sz="1250" dirty="0">
                <a:solidFill>
                  <a:srgbClr val="26313F"/>
                </a:solidFill>
                <a:latin typeface="Calibri" pitchFamily="34" charset="0"/>
                <a:ea typeface="Calibri" pitchFamily="34" charset="-122"/>
                <a:cs typeface="Calibri" pitchFamily="34" charset="-120"/>
              </a:rPr>
              <a:t>Backup persons? Delayed distribution (e.g. not until a certain age)?</a:t>
            </a:r>
            <a:endParaRPr lang="en-US" sz="1250" dirty="0"/>
          </a:p>
          <a:p>
            <a:pPr marL="177800" indent="-177800" algn="l">
              <a:lnSpc>
                <a:spcPct val="112000"/>
              </a:lnSpc>
              <a:spcAft>
                <a:spcPts val="800"/>
              </a:spcAft>
              <a:buSzPct val="100000"/>
              <a:buChar char="●"/>
            </a:pPr>
            <a:r>
              <a:rPr lang="en-US" sz="1250" dirty="0">
                <a:solidFill>
                  <a:srgbClr val="26313F"/>
                </a:solidFill>
                <a:latin typeface="Calibri" pitchFamily="34" charset="0"/>
                <a:ea typeface="Calibri" pitchFamily="34" charset="-122"/>
                <a:cs typeface="Calibri" pitchFamily="34" charset="-120"/>
              </a:rPr>
              <a:t>Charities – name them, or at the discretion of executors</a:t>
            </a:r>
            <a:endParaRPr lang="en-US" sz="1250" dirty="0"/>
          </a:p>
          <a:p>
            <a:pPr marL="177800" indent="-177800" algn="l">
              <a:lnSpc>
                <a:spcPct val="112000"/>
              </a:lnSpc>
              <a:spcAft>
                <a:spcPts val="800"/>
              </a:spcAft>
              <a:buSzPct val="100000"/>
              <a:buChar char="●"/>
            </a:pPr>
            <a:r>
              <a:rPr lang="en-US" sz="1250" dirty="0">
                <a:solidFill>
                  <a:srgbClr val="26313F"/>
                </a:solidFill>
                <a:latin typeface="Calibri" pitchFamily="34" charset="0"/>
                <a:ea typeface="Calibri" pitchFamily="34" charset="-122"/>
                <a:cs typeface="Calibri" pitchFamily="34" charset="-120"/>
              </a:rPr>
              <a:t>Insufficient funds? In-specie tax consequences?</a:t>
            </a:r>
            <a:endParaRPr lang="en-US" sz="1250" dirty="0"/>
          </a:p>
          <a:p>
            <a:pPr marL="177800" indent="-177800" algn="l">
              <a:lnSpc>
                <a:spcPct val="112000"/>
              </a:lnSpc>
              <a:spcAft>
                <a:spcPts val="800"/>
              </a:spcAft>
              <a:buSzPct val="100000"/>
              <a:buChar char="●"/>
            </a:pPr>
            <a:r>
              <a:rPr lang="en-US" sz="1250" dirty="0">
                <a:solidFill>
                  <a:srgbClr val="26313F"/>
                </a:solidFill>
                <a:latin typeface="Calibri" pitchFamily="34" charset="0"/>
                <a:ea typeface="Calibri" pitchFamily="34" charset="-122"/>
                <a:cs typeface="Calibri" pitchFamily="34" charset="-120"/>
              </a:rPr>
              <a:t>Life interest and right to occupy (adds complexity)</a:t>
            </a:r>
            <a:endParaRPr lang="en-US" sz="1250" dirty="0"/>
          </a:p>
        </p:txBody>
      </p:sp>
      <p:sp>
        <p:nvSpPr>
          <p:cNvPr id="5" name="Shape 3"/>
          <p:cNvSpPr/>
          <p:nvPr/>
        </p:nvSpPr>
        <p:spPr>
          <a:xfrm>
            <a:off x="7223760" y="1280160"/>
            <a:ext cx="4419295" cy="4480560"/>
          </a:xfrm>
          <a:prstGeom prst="roundRect">
            <a:avLst>
              <a:gd name="adj" fmla="val 1655"/>
            </a:avLst>
          </a:prstGeom>
          <a:solidFill>
            <a:srgbClr val="FFFFFF"/>
          </a:solidFill>
          <a:ln w="15875">
            <a:solidFill>
              <a:srgbClr val="D7DEEA"/>
            </a:solidFill>
            <a:prstDash val="dash"/>
          </a:ln>
        </p:spPr>
        <p:txBody>
          <a:bodyPr/>
          <a:lstStyle/>
          <a:p>
            <a:endParaRPr lang="en-AU"/>
          </a:p>
        </p:txBody>
      </p:sp>
      <p:sp>
        <p:nvSpPr>
          <p:cNvPr id="6" name="Text 4"/>
          <p:cNvSpPr/>
          <p:nvPr/>
        </p:nvSpPr>
        <p:spPr>
          <a:xfrm>
            <a:off x="7424928" y="1408176"/>
            <a:ext cx="4016959" cy="292608"/>
          </a:xfrm>
          <a:prstGeom prst="rect">
            <a:avLst/>
          </a:prstGeom>
          <a:noFill/>
          <a:ln/>
        </p:spPr>
        <p:txBody>
          <a:bodyPr wrap="square" lIns="0" tIns="0" rIns="0" bIns="0" rtlCol="0" anchor="ctr"/>
          <a:lstStyle/>
          <a:p>
            <a:pPr marL="0" indent="0">
              <a:buNone/>
            </a:pPr>
            <a:r>
              <a:rPr lang="en-US" sz="1050" b="1" kern="0" spc="150" dirty="0">
                <a:solidFill>
                  <a:srgbClr val="AD8A52"/>
                </a:solidFill>
                <a:latin typeface="Calibri" pitchFamily="34" charset="0"/>
                <a:ea typeface="Calibri" pitchFamily="34" charset="-122"/>
                <a:cs typeface="Calibri" pitchFamily="34" charset="-120"/>
              </a:rPr>
              <a:t>GIFTS TO RECORD</a:t>
            </a:r>
            <a:endParaRPr lang="en-US" sz="10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Will – Personal Property* &amp; everything else</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280160"/>
            <a:ext cx="7406640" cy="118872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Personal Property* – common household items are dealt with separately so they don’t need to be divided equally between multiple people. These assets are directed to individuals rather than other entities (such as testamentary trusts).</a:t>
            </a:r>
            <a:endParaRPr lang="en-US" sz="1250" dirty="0"/>
          </a:p>
        </p:txBody>
      </p:sp>
      <p:sp>
        <p:nvSpPr>
          <p:cNvPr id="5" name="Shape 3"/>
          <p:cNvSpPr/>
          <p:nvPr/>
        </p:nvSpPr>
        <p:spPr>
          <a:xfrm>
            <a:off x="8321040" y="1280160"/>
            <a:ext cx="3322015" cy="1188720"/>
          </a:xfrm>
          <a:prstGeom prst="roundRect">
            <a:avLst>
              <a:gd name="adj" fmla="val 6154"/>
            </a:avLst>
          </a:prstGeom>
          <a:solidFill>
            <a:srgbClr val="FFFFFF"/>
          </a:solidFill>
          <a:ln w="15875">
            <a:solidFill>
              <a:srgbClr val="D7DEEA"/>
            </a:solidFill>
            <a:prstDash val="dash"/>
          </a:ln>
        </p:spPr>
        <p:txBody>
          <a:bodyPr/>
          <a:lstStyle/>
          <a:p>
            <a:endParaRPr lang="en-AU"/>
          </a:p>
        </p:txBody>
      </p:sp>
      <p:sp>
        <p:nvSpPr>
          <p:cNvPr id="6" name="Text 4"/>
          <p:cNvSpPr/>
          <p:nvPr/>
        </p:nvSpPr>
        <p:spPr>
          <a:xfrm>
            <a:off x="8522208" y="1408176"/>
            <a:ext cx="2919679" cy="292608"/>
          </a:xfrm>
          <a:prstGeom prst="rect">
            <a:avLst/>
          </a:prstGeom>
          <a:noFill/>
          <a:ln/>
        </p:spPr>
        <p:txBody>
          <a:bodyPr wrap="square" lIns="0" tIns="0" rIns="0" bIns="0" rtlCol="0" anchor="ctr"/>
          <a:lstStyle/>
          <a:p>
            <a:pPr marL="0" indent="0">
              <a:buNone/>
            </a:pPr>
            <a:r>
              <a:rPr lang="en-US" sz="1050" b="1" kern="0" spc="150" dirty="0">
                <a:solidFill>
                  <a:srgbClr val="AD8A52"/>
                </a:solidFill>
                <a:latin typeface="Calibri" pitchFamily="34" charset="0"/>
                <a:ea typeface="Calibri" pitchFamily="34" charset="-122"/>
                <a:cs typeface="Calibri" pitchFamily="34" charset="-120"/>
              </a:rPr>
              <a:t>NAMES</a:t>
            </a:r>
            <a:endParaRPr lang="en-US" sz="1050" dirty="0"/>
          </a:p>
        </p:txBody>
      </p:sp>
      <p:sp>
        <p:nvSpPr>
          <p:cNvPr id="7" name="Shape 5"/>
          <p:cNvSpPr/>
          <p:nvPr/>
        </p:nvSpPr>
        <p:spPr>
          <a:xfrm>
            <a:off x="548640" y="2697480"/>
            <a:ext cx="11094415" cy="3108960"/>
          </a:xfrm>
          <a:prstGeom prst="roundRect">
            <a:avLst>
              <a:gd name="adj" fmla="val 2353"/>
            </a:avLst>
          </a:prstGeom>
          <a:solidFill>
            <a:srgbClr val="FFFFFF"/>
          </a:solidFill>
          <a:ln w="15875">
            <a:solidFill>
              <a:srgbClr val="D7DEEA"/>
            </a:solidFill>
            <a:prstDash val="dash"/>
          </a:ln>
        </p:spPr>
        <p:txBody>
          <a:bodyPr/>
          <a:lstStyle/>
          <a:p>
            <a:endParaRPr lang="en-AU"/>
          </a:p>
        </p:txBody>
      </p:sp>
      <p:sp>
        <p:nvSpPr>
          <p:cNvPr id="8" name="Text 6"/>
          <p:cNvSpPr/>
          <p:nvPr/>
        </p:nvSpPr>
        <p:spPr>
          <a:xfrm>
            <a:off x="749808" y="2825496"/>
            <a:ext cx="10692079" cy="292608"/>
          </a:xfrm>
          <a:prstGeom prst="rect">
            <a:avLst/>
          </a:prstGeom>
          <a:noFill/>
          <a:ln/>
        </p:spPr>
        <p:txBody>
          <a:bodyPr wrap="square" lIns="0" tIns="0" rIns="0" bIns="0" rtlCol="0" anchor="ctr"/>
          <a:lstStyle/>
          <a:p>
            <a:pPr marL="0" indent="0">
              <a:buNone/>
            </a:pPr>
            <a:r>
              <a:rPr lang="en-US" sz="1050" b="1" kern="0" spc="150" dirty="0">
                <a:solidFill>
                  <a:srgbClr val="AD8A52"/>
                </a:solidFill>
                <a:latin typeface="Calibri" pitchFamily="34" charset="0"/>
                <a:ea typeface="Calibri" pitchFamily="34" charset="-122"/>
                <a:cs typeface="Calibri" pitchFamily="34" charset="-120"/>
              </a:rPr>
              <a:t>EVERYTHING ELSE – NOTES</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Will – testamentary trust</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371600"/>
            <a:ext cx="11094415" cy="4572000"/>
          </a:xfrm>
          <a:prstGeom prst="rect">
            <a:avLst/>
          </a:prstGeom>
          <a:noFill/>
          <a:ln/>
        </p:spPr>
        <p:txBody>
          <a:bodyPr wrap="square" lIns="0" tIns="0" rIns="0" bIns="0" rtlCol="0" anchor="t"/>
          <a:lstStyle/>
          <a:p>
            <a:pPr marL="177800" indent="-177800" algn="l">
              <a:lnSpc>
                <a:spcPct val="112000"/>
              </a:lnSpc>
              <a:spcAft>
                <a:spcPts val="1100"/>
              </a:spcAft>
              <a:buSzPct val="100000"/>
              <a:buChar char="●"/>
            </a:pPr>
            <a:r>
              <a:rPr lang="en-US" sz="1450" dirty="0">
                <a:solidFill>
                  <a:srgbClr val="26313F"/>
                </a:solidFill>
                <a:latin typeface="Calibri" pitchFamily="34" charset="0"/>
                <a:ea typeface="Calibri" pitchFamily="34" charset="-122"/>
                <a:cs typeface="Calibri" pitchFamily="34" charset="-120"/>
              </a:rPr>
              <a:t>How many trusts? Primary beneficiary?</a:t>
            </a:r>
            <a:endParaRPr lang="en-US" sz="1450" dirty="0"/>
          </a:p>
          <a:p>
            <a:pPr marL="177800" indent="-177800" algn="l">
              <a:lnSpc>
                <a:spcPct val="112000"/>
              </a:lnSpc>
              <a:spcAft>
                <a:spcPts val="1100"/>
              </a:spcAft>
              <a:buSzPct val="100000"/>
              <a:buChar char="●"/>
            </a:pPr>
            <a:r>
              <a:rPr lang="en-US" sz="1450" dirty="0">
                <a:solidFill>
                  <a:srgbClr val="26313F"/>
                </a:solidFill>
                <a:latin typeface="Calibri" pitchFamily="34" charset="0"/>
                <a:ea typeface="Calibri" pitchFamily="34" charset="-122"/>
                <a:cs typeface="Calibri" pitchFamily="34" charset="-120"/>
              </a:rPr>
              <a:t>Beneficiaries – default is the bloodline of the primary beneficiary</a:t>
            </a:r>
            <a:endParaRPr lang="en-US" sz="1450" dirty="0"/>
          </a:p>
          <a:p>
            <a:pPr marL="177800" indent="-177800" algn="l">
              <a:lnSpc>
                <a:spcPct val="112000"/>
              </a:lnSpc>
              <a:spcAft>
                <a:spcPts val="1100"/>
              </a:spcAft>
              <a:buSzPct val="100000"/>
              <a:buChar char="●"/>
            </a:pPr>
            <a:r>
              <a:rPr lang="en-US" sz="1450" dirty="0">
                <a:solidFill>
                  <a:srgbClr val="26313F"/>
                </a:solidFill>
                <a:latin typeface="Calibri" pitchFamily="34" charset="0"/>
                <a:ea typeface="Calibri" pitchFamily="34" charset="-122"/>
                <a:cs typeface="Calibri" pitchFamily="34" charset="-120"/>
              </a:rPr>
              <a:t>Trustee? (Executor, or someone else?)</a:t>
            </a:r>
            <a:endParaRPr lang="en-US" sz="1450" dirty="0"/>
          </a:p>
          <a:p>
            <a:pPr marL="177800" indent="-177800" algn="l">
              <a:lnSpc>
                <a:spcPct val="112000"/>
              </a:lnSpc>
              <a:spcAft>
                <a:spcPts val="1100"/>
              </a:spcAft>
              <a:buSzPct val="100000"/>
              <a:buChar char="●"/>
            </a:pPr>
            <a:r>
              <a:rPr lang="en-US" sz="1450" dirty="0">
                <a:solidFill>
                  <a:srgbClr val="26313F"/>
                </a:solidFill>
                <a:latin typeface="Calibri" pitchFamily="34" charset="0"/>
                <a:ea typeface="Calibri" pitchFamily="34" charset="-122"/>
                <a:cs typeface="Calibri" pitchFamily="34" charset="-120"/>
              </a:rPr>
              <a:t>Appointor? (Executor, or someone else?) – suggest aligning trustee and appointor initially</a:t>
            </a:r>
            <a:endParaRPr lang="en-US" sz="1450" dirty="0"/>
          </a:p>
          <a:p>
            <a:pPr marL="177800" indent="-177800" algn="l">
              <a:lnSpc>
                <a:spcPct val="112000"/>
              </a:lnSpc>
              <a:spcAft>
                <a:spcPts val="1100"/>
              </a:spcAft>
              <a:buSzPct val="100000"/>
              <a:buChar char="●"/>
            </a:pPr>
            <a:r>
              <a:rPr lang="en-US" sz="1450" dirty="0">
                <a:solidFill>
                  <a:srgbClr val="26313F"/>
                </a:solidFill>
                <a:latin typeface="Calibri" pitchFamily="34" charset="0"/>
                <a:ea typeface="Calibri" pitchFamily="34" charset="-122"/>
                <a:cs typeface="Calibri" pitchFamily="34" charset="-120"/>
              </a:rPr>
              <a:t>Special rules needed, if a memo of directions isn’t enough?</a:t>
            </a:r>
            <a:endParaRPr lang="en-US" sz="1450" dirty="0"/>
          </a:p>
          <a:p>
            <a:pPr marL="177800" indent="-177800" algn="l">
              <a:lnSpc>
                <a:spcPct val="112000"/>
              </a:lnSpc>
              <a:spcAft>
                <a:spcPts val="1100"/>
              </a:spcAft>
              <a:buSzPct val="100000"/>
              <a:buChar char="●"/>
            </a:pPr>
            <a:r>
              <a:rPr lang="en-US" sz="1450" dirty="0">
                <a:solidFill>
                  <a:srgbClr val="26313F"/>
                </a:solidFill>
                <a:latin typeface="Calibri" pitchFamily="34" charset="0"/>
                <a:ea typeface="Calibri" pitchFamily="34" charset="-122"/>
                <a:cs typeface="Calibri" pitchFamily="34" charset="-120"/>
              </a:rPr>
              <a:t>Standard terms otherwise apply, to allow flexibility for future tax planning</a:t>
            </a:r>
            <a:endParaRPr lang="en-US" sz="14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Enduring power of attorney</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Shape 2"/>
          <p:cNvSpPr/>
          <p:nvPr/>
        </p:nvSpPr>
        <p:spPr>
          <a:xfrm>
            <a:off x="548640" y="1325880"/>
            <a:ext cx="5318608" cy="4663440"/>
          </a:xfrm>
          <a:prstGeom prst="roundRect">
            <a:avLst>
              <a:gd name="adj" fmla="val 1569"/>
            </a:avLst>
          </a:prstGeom>
          <a:solidFill>
            <a:srgbClr val="E9EDF4"/>
          </a:solidFill>
          <a:ln/>
        </p:spPr>
        <p:txBody>
          <a:bodyPr/>
          <a:lstStyle/>
          <a:p>
            <a:endParaRPr lang="en-AU"/>
          </a:p>
        </p:txBody>
      </p:sp>
      <p:sp>
        <p:nvSpPr>
          <p:cNvPr id="5" name="Shape 3"/>
          <p:cNvSpPr/>
          <p:nvPr/>
        </p:nvSpPr>
        <p:spPr>
          <a:xfrm>
            <a:off x="6324448" y="1325880"/>
            <a:ext cx="5318608" cy="4663440"/>
          </a:xfrm>
          <a:prstGeom prst="roundRect">
            <a:avLst>
              <a:gd name="adj" fmla="val 1569"/>
            </a:avLst>
          </a:prstGeom>
          <a:solidFill>
            <a:srgbClr val="E9EDF4"/>
          </a:solidFill>
          <a:ln/>
        </p:spPr>
        <p:txBody>
          <a:bodyPr/>
          <a:lstStyle/>
          <a:p>
            <a:endParaRPr lang="en-AU"/>
          </a:p>
        </p:txBody>
      </p:sp>
      <p:sp>
        <p:nvSpPr>
          <p:cNvPr id="6" name="Text 4"/>
          <p:cNvSpPr/>
          <p:nvPr/>
        </p:nvSpPr>
        <p:spPr>
          <a:xfrm>
            <a:off x="822960"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Overview</a:t>
            </a:r>
            <a:endParaRPr lang="en-US" sz="1600" dirty="0"/>
          </a:p>
        </p:txBody>
      </p:sp>
      <p:sp>
        <p:nvSpPr>
          <p:cNvPr id="7" name="Text 5"/>
          <p:cNvSpPr/>
          <p:nvPr/>
        </p:nvSpPr>
        <p:spPr>
          <a:xfrm>
            <a:off x="6598768"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Attorney duties</a:t>
            </a:r>
            <a:endParaRPr lang="en-US" sz="1600" dirty="0"/>
          </a:p>
        </p:txBody>
      </p:sp>
      <p:sp>
        <p:nvSpPr>
          <p:cNvPr id="8" name="Text 6"/>
          <p:cNvSpPr/>
          <p:nvPr/>
        </p:nvSpPr>
        <p:spPr>
          <a:xfrm>
            <a:off x="822960" y="1984248"/>
            <a:ext cx="4769968" cy="374904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Applicable while you’re living</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Covers financial decisions (immediately, or only on loss of capacity) and personal/health decisions (only on loss of capacity)</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Doesn’t deal with serious health issues – that’s an advance health directive</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Lets you record comments about your personal views and wants for your attorney to consider</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Our practice: maximum flexibility for your attorney, on the basis they must notify and update certain people</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We’ll provide an EPA explanatory guide with some takeaway information today</a:t>
            </a:r>
            <a:endParaRPr lang="en-US" sz="1200" dirty="0"/>
          </a:p>
        </p:txBody>
      </p:sp>
      <p:sp>
        <p:nvSpPr>
          <p:cNvPr id="9" name="Text 7"/>
          <p:cNvSpPr/>
          <p:nvPr/>
        </p:nvSpPr>
        <p:spPr>
          <a:xfrm>
            <a:off x="6598768" y="1984248"/>
            <a:ext cx="4769968" cy="374904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Apply the general and health care principles prescribed by law (i.e. respect your rights)</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Act honestly and with reasonable diligence in your best interest</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Consult with any other attorney appointed at the same time, and not act against your interest</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Not inappropriately disclose confidential information</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Invest only in ‘authorised investments’ – those a prudent person, or a tribunal, would approve</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Keep accurate records and accounts of all dealings and transactions</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Keep their property separate from yours</a:t>
            </a:r>
            <a:endParaRPr lang="en-US" sz="1200" dirty="0"/>
          </a:p>
        </p:txBody>
      </p:sp>
      <p:sp>
        <p:nvSpPr>
          <p:cNvPr id="10" name="Text 8"/>
          <p:cNvSpPr/>
          <p:nvPr/>
        </p:nvSpPr>
        <p:spPr>
          <a:xfrm>
            <a:off x="548640" y="6172200"/>
            <a:ext cx="11094415" cy="365760"/>
          </a:xfrm>
          <a:prstGeom prst="rect">
            <a:avLst/>
          </a:prstGeom>
          <a:noFill/>
          <a:ln/>
        </p:spPr>
        <p:txBody>
          <a:bodyPr wrap="square" lIns="0" tIns="0" rIns="0" bIns="0" rtlCol="0" anchor="t"/>
          <a:lstStyle/>
          <a:p>
            <a:pPr marL="0" indent="0" algn="l">
              <a:lnSpc>
                <a:spcPct val="115000"/>
              </a:lnSpc>
              <a:buNone/>
            </a:pPr>
            <a:r>
              <a:rPr lang="en-US" sz="1250" i="1" dirty="0">
                <a:solidFill>
                  <a:srgbClr val="5B6472"/>
                </a:solidFill>
                <a:latin typeface="Calibri" pitchFamily="34" charset="0"/>
                <a:ea typeface="Calibri" pitchFamily="34" charset="-122"/>
                <a:cs typeface="Calibri" pitchFamily="34" charset="-120"/>
              </a:rPr>
              <a:t>We allow some flexibility for conflict transactions, but these must still be made with the above duties in mind.</a:t>
            </a:r>
            <a:endParaRPr lang="en-US" sz="12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EPA – financial &amp; personal powers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Shape 2"/>
          <p:cNvSpPr/>
          <p:nvPr/>
        </p:nvSpPr>
        <p:spPr>
          <a:xfrm>
            <a:off x="548640" y="1325880"/>
            <a:ext cx="5318608" cy="5074920"/>
          </a:xfrm>
          <a:prstGeom prst="roundRect">
            <a:avLst>
              <a:gd name="adj" fmla="val 1441"/>
            </a:avLst>
          </a:prstGeom>
          <a:solidFill>
            <a:srgbClr val="E9EDF4"/>
          </a:solidFill>
          <a:ln/>
        </p:spPr>
        <p:txBody>
          <a:bodyPr/>
          <a:lstStyle/>
          <a:p>
            <a:endParaRPr lang="en-AU"/>
          </a:p>
        </p:txBody>
      </p:sp>
      <p:sp>
        <p:nvSpPr>
          <p:cNvPr id="5" name="Shape 3"/>
          <p:cNvSpPr/>
          <p:nvPr/>
        </p:nvSpPr>
        <p:spPr>
          <a:xfrm>
            <a:off x="6324448" y="1325880"/>
            <a:ext cx="5318608" cy="5074920"/>
          </a:xfrm>
          <a:prstGeom prst="roundRect">
            <a:avLst>
              <a:gd name="adj" fmla="val 1441"/>
            </a:avLst>
          </a:prstGeom>
          <a:solidFill>
            <a:srgbClr val="E9EDF4"/>
          </a:solidFill>
          <a:ln/>
        </p:spPr>
        <p:txBody>
          <a:bodyPr/>
          <a:lstStyle/>
          <a:p>
            <a:endParaRPr lang="en-AU"/>
          </a:p>
        </p:txBody>
      </p:sp>
      <p:sp>
        <p:nvSpPr>
          <p:cNvPr id="6" name="Text 4"/>
          <p:cNvSpPr/>
          <p:nvPr/>
        </p:nvSpPr>
        <p:spPr>
          <a:xfrm>
            <a:off x="822960"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Financial decisions</a:t>
            </a:r>
            <a:endParaRPr lang="en-US" sz="1600" dirty="0"/>
          </a:p>
        </p:txBody>
      </p:sp>
      <p:sp>
        <p:nvSpPr>
          <p:cNvPr id="7" name="Text 5"/>
          <p:cNvSpPr/>
          <p:nvPr/>
        </p:nvSpPr>
        <p:spPr>
          <a:xfrm>
            <a:off x="6598768" y="1527048"/>
            <a:ext cx="4769968" cy="365760"/>
          </a:xfrm>
          <a:prstGeom prst="rect">
            <a:avLst/>
          </a:prstGeom>
          <a:noFill/>
          <a:ln/>
        </p:spPr>
        <p:txBody>
          <a:bodyPr wrap="square" lIns="0" tIns="0" rIns="0" bIns="0" rtlCol="0" anchor="ctr"/>
          <a:lstStyle/>
          <a:p>
            <a:pPr marL="0" indent="0">
              <a:buNone/>
            </a:pPr>
            <a:r>
              <a:rPr lang="en-US" sz="1600" b="1" dirty="0">
                <a:solidFill>
                  <a:srgbClr val="1B2A4A"/>
                </a:solidFill>
                <a:latin typeface="Cambria" pitchFamily="34" charset="0"/>
                <a:ea typeface="Cambria" pitchFamily="34" charset="-122"/>
                <a:cs typeface="Cambria" pitchFamily="34" charset="-120"/>
              </a:rPr>
              <a:t>Personal / health decisions</a:t>
            </a:r>
            <a:endParaRPr lang="en-US" sz="1600" dirty="0"/>
          </a:p>
        </p:txBody>
      </p:sp>
      <p:sp>
        <p:nvSpPr>
          <p:cNvPr id="8" name="Text 6"/>
          <p:cNvSpPr/>
          <p:nvPr/>
        </p:nvSpPr>
        <p:spPr>
          <a:xfrm>
            <a:off x="822960"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Your attorney can do any financial transaction you can (bank accounts, home, investments) – duties apply</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Specific power can be given to:</a:t>
            </a:r>
            <a:endParaRPr lang="en-US" sz="1200" dirty="0"/>
          </a:p>
          <a:p>
            <a:pPr marL="457200" lvl="1" indent="-228600" algn="l">
              <a:lnSpc>
                <a:spcPct val="112000"/>
              </a:lnSpc>
              <a:spcAft>
                <a:spcPts val="400"/>
              </a:spcAft>
              <a:buSzPct val="100000"/>
              <a:buChar char="–"/>
            </a:pPr>
            <a:r>
              <a:rPr lang="en-US" sz="1100" dirty="0">
                <a:solidFill>
                  <a:srgbClr val="5B6472"/>
                </a:solidFill>
                <a:latin typeface="Calibri" pitchFamily="34" charset="0"/>
                <a:ea typeface="Calibri" pitchFamily="34" charset="-122"/>
                <a:cs typeface="Calibri" pitchFamily="34" charset="-120"/>
              </a:rPr>
              <a:t>allow conflict transactions</a:t>
            </a:r>
            <a:endParaRPr lang="en-US" sz="1200" dirty="0"/>
          </a:p>
          <a:p>
            <a:pPr marL="457200" lvl="1" indent="-228600" algn="l">
              <a:lnSpc>
                <a:spcPct val="112000"/>
              </a:lnSpc>
              <a:spcAft>
                <a:spcPts val="400"/>
              </a:spcAft>
              <a:buSzPct val="100000"/>
              <a:buChar char="–"/>
            </a:pPr>
            <a:r>
              <a:rPr lang="en-US" sz="1100" dirty="0">
                <a:solidFill>
                  <a:srgbClr val="5B6472"/>
                </a:solidFill>
                <a:latin typeface="Calibri" pitchFamily="34" charset="0"/>
                <a:ea typeface="Calibri" pitchFamily="34" charset="-122"/>
                <a:cs typeface="Calibri" pitchFamily="34" charset="-120"/>
              </a:rPr>
              <a:t>allow gifts on your behalf</a:t>
            </a:r>
            <a:endParaRPr lang="en-US" sz="1200" dirty="0"/>
          </a:p>
          <a:p>
            <a:pPr marL="457200" lvl="1" indent="-228600" algn="l">
              <a:lnSpc>
                <a:spcPct val="112000"/>
              </a:lnSpc>
              <a:spcAft>
                <a:spcPts val="400"/>
              </a:spcAft>
              <a:buSzPct val="100000"/>
              <a:buChar char="–"/>
            </a:pPr>
            <a:r>
              <a:rPr lang="en-US" sz="1100" dirty="0">
                <a:solidFill>
                  <a:srgbClr val="5B6472"/>
                </a:solidFill>
                <a:latin typeface="Calibri" pitchFamily="34" charset="0"/>
                <a:ea typeface="Calibri" pitchFamily="34" charset="-122"/>
                <a:cs typeface="Calibri" pitchFamily="34" charset="-120"/>
              </a:rPr>
              <a:t>allow updating super nominations</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Must notify certain people – 2 updates a year, plus retain significant records (professional fees allowed)</a:t>
            </a:r>
            <a:endParaRPr lang="en-US" sz="1200" dirty="0"/>
          </a:p>
        </p:txBody>
      </p:sp>
      <p:sp>
        <p:nvSpPr>
          <p:cNvPr id="9" name="Text 7"/>
          <p:cNvSpPr/>
          <p:nvPr/>
        </p:nvSpPr>
        <p:spPr>
          <a:xfrm>
            <a:off x="6598768" y="1984248"/>
            <a:ext cx="4769968" cy="4160520"/>
          </a:xfrm>
          <a:prstGeom prst="rect">
            <a:avLst/>
          </a:prstGeom>
          <a:noFill/>
          <a:ln/>
        </p:spPr>
        <p:txBody>
          <a:bodyPr wrap="square" lIns="0" tIns="0" rIns="0" bIns="0" rtlCol="0" anchor="t"/>
          <a:lstStyle/>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Your attorney can choose where you live and what you do</a:t>
            </a:r>
            <a:endParaRPr lang="en-US" sz="1200" dirty="0"/>
          </a:p>
          <a:p>
            <a:pPr marL="177800" indent="-177800" algn="l">
              <a:lnSpc>
                <a:spcPct val="112000"/>
              </a:lnSpc>
              <a:spcAft>
                <a:spcPts val="500"/>
              </a:spcAft>
              <a:buSzPct val="100000"/>
              <a:buChar char="●"/>
            </a:pPr>
            <a:r>
              <a:rPr lang="en-US" sz="1200" dirty="0">
                <a:solidFill>
                  <a:srgbClr val="26313F"/>
                </a:solidFill>
                <a:latin typeface="Calibri" pitchFamily="34" charset="0"/>
                <a:ea typeface="Calibri" pitchFamily="34" charset="-122"/>
                <a:cs typeface="Calibri" pitchFamily="34" charset="-120"/>
              </a:rPr>
              <a:t>Must notify people before commencing the exercise of their power, including if changing:</a:t>
            </a:r>
            <a:endParaRPr lang="en-US" sz="1200" dirty="0"/>
          </a:p>
          <a:p>
            <a:pPr marL="457200" lvl="1" indent="-228600" algn="l">
              <a:lnSpc>
                <a:spcPct val="112000"/>
              </a:lnSpc>
              <a:spcAft>
                <a:spcPts val="400"/>
              </a:spcAft>
              <a:buSzPct val="100000"/>
              <a:buChar char="–"/>
            </a:pPr>
            <a:r>
              <a:rPr lang="en-US" sz="1100" dirty="0">
                <a:solidFill>
                  <a:srgbClr val="5B6472"/>
                </a:solidFill>
                <a:latin typeface="Calibri" pitchFamily="34" charset="0"/>
                <a:ea typeface="Calibri" pitchFamily="34" charset="-122"/>
                <a:cs typeface="Calibri" pitchFamily="34" charset="-120"/>
              </a:rPr>
              <a:t>who you interact with</a:t>
            </a:r>
            <a:endParaRPr lang="en-US" sz="1200" dirty="0"/>
          </a:p>
          <a:p>
            <a:pPr marL="457200" lvl="1" indent="-228600" algn="l">
              <a:lnSpc>
                <a:spcPct val="112000"/>
              </a:lnSpc>
              <a:spcAft>
                <a:spcPts val="400"/>
              </a:spcAft>
              <a:buSzPct val="100000"/>
              <a:buChar char="–"/>
            </a:pPr>
            <a:r>
              <a:rPr lang="en-US" sz="1100" dirty="0">
                <a:solidFill>
                  <a:srgbClr val="5B6472"/>
                </a:solidFill>
                <a:latin typeface="Calibri" pitchFamily="34" charset="0"/>
                <a:ea typeface="Calibri" pitchFamily="34" charset="-122"/>
                <a:cs typeface="Calibri" pitchFamily="34" charset="-120"/>
              </a:rPr>
              <a:t>where you live</a:t>
            </a:r>
            <a:endParaRPr lang="en-US" sz="1200" dirty="0"/>
          </a:p>
          <a:p>
            <a:pPr marL="457200" lvl="1" indent="-228600" algn="l">
              <a:lnSpc>
                <a:spcPct val="112000"/>
              </a:lnSpc>
              <a:spcAft>
                <a:spcPts val="400"/>
              </a:spcAft>
              <a:buSzPct val="100000"/>
              <a:buChar char="–"/>
            </a:pPr>
            <a:r>
              <a:rPr lang="en-US" sz="1100" dirty="0">
                <a:solidFill>
                  <a:srgbClr val="5B6472"/>
                </a:solidFill>
                <a:latin typeface="Calibri" pitchFamily="34" charset="0"/>
                <a:ea typeface="Calibri" pitchFamily="34" charset="-122"/>
                <a:cs typeface="Calibri" pitchFamily="34" charset="-120"/>
              </a:rPr>
              <a:t>a procedure ordinarily requiring your consent</a:t>
            </a:r>
            <a:endParaRPr lang="en-US" sz="12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EPA – who to appoint</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280160"/>
            <a:ext cx="6309360" cy="3291840"/>
          </a:xfrm>
          <a:prstGeom prst="rect">
            <a:avLst/>
          </a:prstGeom>
          <a:noFill/>
          <a:ln/>
        </p:spPr>
        <p:txBody>
          <a:bodyPr wrap="square" lIns="0" tIns="0" rIns="0" bIns="0" rtlCol="0" anchor="t"/>
          <a:lstStyle/>
          <a:p>
            <a:pPr marL="177800" indent="-177800" algn="l">
              <a:lnSpc>
                <a:spcPct val="112000"/>
              </a:lnSpc>
              <a:spcAft>
                <a:spcPts val="1000"/>
              </a:spcAft>
              <a:buSzPct val="100000"/>
              <a:buChar char="●"/>
            </a:pPr>
            <a:r>
              <a:rPr lang="en-US" sz="1300" dirty="0">
                <a:solidFill>
                  <a:srgbClr val="26313F"/>
                </a:solidFill>
                <a:latin typeface="Calibri" pitchFamily="34" charset="0"/>
                <a:ea typeface="Calibri" pitchFamily="34" charset="-122"/>
                <a:cs typeface="Calibri" pitchFamily="34" charset="-120"/>
              </a:rPr>
              <a:t>Someone you trust, who can follow the duties as required and account accordingly</a:t>
            </a:r>
            <a:endParaRPr lang="en-US" sz="1300" dirty="0"/>
          </a:p>
          <a:p>
            <a:pPr marL="177800" indent="-177800" algn="l">
              <a:lnSpc>
                <a:spcPct val="112000"/>
              </a:lnSpc>
              <a:spcAft>
                <a:spcPts val="1000"/>
              </a:spcAft>
              <a:buSzPct val="100000"/>
              <a:buChar char="●"/>
            </a:pPr>
            <a:r>
              <a:rPr lang="en-US" sz="1300" dirty="0">
                <a:solidFill>
                  <a:srgbClr val="26313F"/>
                </a:solidFill>
                <a:latin typeface="Calibri" pitchFamily="34" charset="0"/>
                <a:ea typeface="Calibri" pitchFamily="34" charset="-122"/>
                <a:cs typeface="Calibri" pitchFamily="34" charset="-120"/>
              </a:rPr>
              <a:t>Breaching the attorney duties could mean criminal liability, compensation and accounting for profits</a:t>
            </a:r>
            <a:endParaRPr lang="en-US" sz="1300" dirty="0"/>
          </a:p>
          <a:p>
            <a:pPr marL="177800" indent="-177800" algn="l">
              <a:lnSpc>
                <a:spcPct val="112000"/>
              </a:lnSpc>
              <a:spcAft>
                <a:spcPts val="1000"/>
              </a:spcAft>
              <a:buSzPct val="100000"/>
              <a:buChar char="●"/>
            </a:pPr>
            <a:r>
              <a:rPr lang="en-US" sz="1300" dirty="0">
                <a:solidFill>
                  <a:srgbClr val="26313F"/>
                </a:solidFill>
                <a:latin typeface="Calibri" pitchFamily="34" charset="0"/>
                <a:ea typeface="Calibri" pitchFamily="34" charset="-122"/>
                <a:cs typeface="Calibri" pitchFamily="34" charset="-120"/>
              </a:rPr>
              <a:t>Can appoint multiple people at one time</a:t>
            </a:r>
            <a:endParaRPr lang="en-US" sz="1300" dirty="0"/>
          </a:p>
          <a:p>
            <a:pPr marL="177800" indent="-177800" algn="l">
              <a:lnSpc>
                <a:spcPct val="112000"/>
              </a:lnSpc>
              <a:spcAft>
                <a:spcPts val="1000"/>
              </a:spcAft>
              <a:buSzPct val="100000"/>
              <a:buChar char="●"/>
            </a:pPr>
            <a:r>
              <a:rPr lang="en-US" sz="1300" dirty="0">
                <a:solidFill>
                  <a:srgbClr val="26313F"/>
                </a:solidFill>
                <a:latin typeface="Calibri" pitchFamily="34" charset="0"/>
                <a:ea typeface="Calibri" pitchFamily="34" charset="-122"/>
                <a:cs typeface="Calibri" pitchFamily="34" charset="-120"/>
              </a:rPr>
              <a:t>Consider: jointly (max. 4 acting together), severally, by majority, or a combination (e.g. 2 of 4)</a:t>
            </a:r>
            <a:endParaRPr lang="en-US" sz="1300" dirty="0"/>
          </a:p>
        </p:txBody>
      </p:sp>
      <p:sp>
        <p:nvSpPr>
          <p:cNvPr id="5" name="Shape 3"/>
          <p:cNvSpPr/>
          <p:nvPr/>
        </p:nvSpPr>
        <p:spPr>
          <a:xfrm>
            <a:off x="7223760" y="1280160"/>
            <a:ext cx="4419295" cy="4480560"/>
          </a:xfrm>
          <a:prstGeom prst="roundRect">
            <a:avLst>
              <a:gd name="adj" fmla="val 1655"/>
            </a:avLst>
          </a:prstGeom>
          <a:solidFill>
            <a:srgbClr val="FFFFFF"/>
          </a:solidFill>
          <a:ln w="15875">
            <a:solidFill>
              <a:srgbClr val="D7DEEA"/>
            </a:solidFill>
            <a:prstDash val="dash"/>
          </a:ln>
        </p:spPr>
        <p:txBody>
          <a:bodyPr/>
          <a:lstStyle/>
          <a:p>
            <a:endParaRPr lang="en-AU"/>
          </a:p>
        </p:txBody>
      </p:sp>
      <p:sp>
        <p:nvSpPr>
          <p:cNvPr id="6" name="Text 4"/>
          <p:cNvSpPr/>
          <p:nvPr/>
        </p:nvSpPr>
        <p:spPr>
          <a:xfrm>
            <a:off x="7424928" y="1408176"/>
            <a:ext cx="4016959" cy="292608"/>
          </a:xfrm>
          <a:prstGeom prst="rect">
            <a:avLst/>
          </a:prstGeom>
          <a:noFill/>
          <a:ln/>
        </p:spPr>
        <p:txBody>
          <a:bodyPr wrap="square" lIns="0" tIns="0" rIns="0" bIns="0" rtlCol="0" anchor="ctr"/>
          <a:lstStyle/>
          <a:p>
            <a:pPr marL="0" indent="0">
              <a:buNone/>
            </a:pPr>
            <a:r>
              <a:rPr lang="en-US" sz="1050" b="1" kern="0" spc="150" dirty="0">
                <a:solidFill>
                  <a:srgbClr val="AD8A52"/>
                </a:solidFill>
                <a:latin typeface="Calibri" pitchFamily="34" charset="0"/>
                <a:ea typeface="Calibri" pitchFamily="34" charset="-122"/>
                <a:cs typeface="Calibri" pitchFamily="34" charset="-120"/>
              </a:rPr>
              <a:t>ATTORNEYS TO RECORD</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Advice in relation to other assets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371600"/>
            <a:ext cx="11094415" cy="4389120"/>
          </a:xfrm>
          <a:prstGeom prst="rect">
            <a:avLst/>
          </a:prstGeom>
          <a:noFill/>
          <a:ln/>
        </p:spPr>
        <p:txBody>
          <a:bodyPr wrap="square" lIns="0" tIns="0" rIns="0" bIns="0" rtlCol="0" anchor="t"/>
          <a:lstStyle/>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Superannuation, joint assets, trusts, companies</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Broader entity advice – financial statements, governing document review, and entity power of attorney</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Business / partnership assets, overseas assets</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Estate challenge strategies</a:t>
            </a:r>
            <a:endParaRPr lang="en-US" sz="1600" dirty="0"/>
          </a:p>
          <a:p>
            <a:pPr marL="177800" indent="-177800" algn="l">
              <a:lnSpc>
                <a:spcPct val="112000"/>
              </a:lnSpc>
              <a:spcAft>
                <a:spcPts val="1400"/>
              </a:spcAft>
              <a:buSzPct val="100000"/>
              <a:buChar char="●"/>
            </a:pPr>
            <a:r>
              <a:rPr lang="en-US" sz="1600" dirty="0">
                <a:solidFill>
                  <a:srgbClr val="26313F"/>
                </a:solidFill>
                <a:latin typeface="Calibri" pitchFamily="34" charset="0"/>
                <a:ea typeface="Calibri" pitchFamily="34" charset="-122"/>
                <a:cs typeface="Calibri" pitchFamily="34" charset="-120"/>
              </a:rPr>
              <a:t>Recommendations documented via a ‘to-do’ list</a:t>
            </a:r>
            <a:endParaRPr lang="en-US" sz="16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When to update your arrangements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280160"/>
            <a:ext cx="11094415" cy="4754880"/>
          </a:xfrm>
          <a:prstGeom prst="rect">
            <a:avLst/>
          </a:prstGeom>
          <a:noFill/>
          <a:ln/>
        </p:spPr>
        <p:txBody>
          <a:bodyPr wrap="square" lIns="0" tIns="0" rIns="0" bIns="0" rtlCol="0" anchor="t"/>
          <a:lstStyle/>
          <a:p>
            <a:pPr marL="177800" indent="-177800" algn="l">
              <a:lnSpc>
                <a:spcPct val="112000"/>
              </a:lnSpc>
              <a:spcAft>
                <a:spcPts val="800"/>
              </a:spcAft>
              <a:buSzPct val="100000"/>
              <a:buChar char="●"/>
            </a:pPr>
            <a:r>
              <a:rPr lang="en-US" sz="1350" dirty="0">
                <a:solidFill>
                  <a:srgbClr val="26313F"/>
                </a:solidFill>
                <a:latin typeface="Calibri" pitchFamily="34" charset="0"/>
                <a:ea typeface="Calibri" pitchFamily="34" charset="-122"/>
                <a:cs typeface="Calibri" pitchFamily="34" charset="-120"/>
              </a:rPr>
              <a:t>Change of name</a:t>
            </a:r>
            <a:endParaRPr lang="en-US" sz="1350" dirty="0"/>
          </a:p>
          <a:p>
            <a:pPr marL="177800" indent="-177800" algn="l">
              <a:lnSpc>
                <a:spcPct val="112000"/>
              </a:lnSpc>
              <a:spcAft>
                <a:spcPts val="800"/>
              </a:spcAft>
              <a:buSzPct val="100000"/>
              <a:buChar char="●"/>
            </a:pPr>
            <a:r>
              <a:rPr lang="en-US" sz="1350" dirty="0">
                <a:solidFill>
                  <a:srgbClr val="26313F"/>
                </a:solidFill>
                <a:latin typeface="Calibri" pitchFamily="34" charset="0"/>
                <a:ea typeface="Calibri" pitchFamily="34" charset="-122"/>
                <a:cs typeface="Calibri" pitchFamily="34" charset="-120"/>
              </a:rPr>
              <a:t>A named person dies or suffers a disability</a:t>
            </a:r>
            <a:endParaRPr lang="en-US" sz="1350" dirty="0"/>
          </a:p>
          <a:p>
            <a:pPr marL="177800" indent="-177800" algn="l">
              <a:lnSpc>
                <a:spcPct val="112000"/>
              </a:lnSpc>
              <a:spcAft>
                <a:spcPts val="800"/>
              </a:spcAft>
              <a:buSzPct val="100000"/>
              <a:buChar char="●"/>
            </a:pPr>
            <a:r>
              <a:rPr lang="en-US" sz="1350" dirty="0">
                <a:solidFill>
                  <a:srgbClr val="26313F"/>
                </a:solidFill>
                <a:latin typeface="Calibri" pitchFamily="34" charset="0"/>
                <a:ea typeface="Calibri" pitchFamily="34" charset="-122"/>
                <a:cs typeface="Calibri" pitchFamily="34" charset="-120"/>
              </a:rPr>
              <a:t>Changes in relationship status to anyone named in your documents</a:t>
            </a:r>
            <a:endParaRPr lang="en-US" sz="1350" dirty="0"/>
          </a:p>
          <a:p>
            <a:pPr marL="177800" indent="-177800" algn="l">
              <a:lnSpc>
                <a:spcPct val="112000"/>
              </a:lnSpc>
              <a:spcAft>
                <a:spcPts val="800"/>
              </a:spcAft>
              <a:buSzPct val="100000"/>
              <a:buChar char="●"/>
            </a:pPr>
            <a:r>
              <a:rPr lang="en-US" sz="1350" dirty="0">
                <a:solidFill>
                  <a:srgbClr val="26313F"/>
                </a:solidFill>
                <a:latin typeface="Calibri" pitchFamily="34" charset="0"/>
                <a:ea typeface="Calibri" pitchFamily="34" charset="-122"/>
                <a:cs typeface="Calibri" pitchFamily="34" charset="-120"/>
              </a:rPr>
              <a:t>Changes to your personal circumstances with certain people (e.g. becoming estranged)</a:t>
            </a:r>
            <a:endParaRPr lang="en-US" sz="1350" dirty="0"/>
          </a:p>
          <a:p>
            <a:pPr marL="177800" indent="-177800" algn="l">
              <a:lnSpc>
                <a:spcPct val="112000"/>
              </a:lnSpc>
              <a:spcAft>
                <a:spcPts val="800"/>
              </a:spcAft>
              <a:buSzPct val="100000"/>
              <a:buChar char="●"/>
            </a:pPr>
            <a:r>
              <a:rPr lang="en-US" sz="1350" dirty="0">
                <a:solidFill>
                  <a:srgbClr val="26313F"/>
                </a:solidFill>
                <a:latin typeface="Calibri" pitchFamily="34" charset="0"/>
                <a:ea typeface="Calibri" pitchFamily="34" charset="-122"/>
                <a:cs typeface="Calibri" pitchFamily="34" charset="-120"/>
              </a:rPr>
              <a:t>Wanting a mutual Will</a:t>
            </a:r>
            <a:endParaRPr lang="en-US" sz="1350" dirty="0"/>
          </a:p>
          <a:p>
            <a:pPr marL="177800" indent="-177800" algn="l">
              <a:lnSpc>
                <a:spcPct val="112000"/>
              </a:lnSpc>
              <a:spcAft>
                <a:spcPts val="800"/>
              </a:spcAft>
              <a:buSzPct val="100000"/>
              <a:buChar char="●"/>
            </a:pPr>
            <a:r>
              <a:rPr lang="en-US" sz="1350" dirty="0">
                <a:solidFill>
                  <a:srgbClr val="26313F"/>
                </a:solidFill>
                <a:latin typeface="Calibri" pitchFamily="34" charset="0"/>
                <a:ea typeface="Calibri" pitchFamily="34" charset="-122"/>
                <a:cs typeface="Calibri" pitchFamily="34" charset="-120"/>
              </a:rPr>
              <a:t>Wanting to change the structure or gifts under your Will</a:t>
            </a:r>
            <a:endParaRPr lang="en-US" sz="1350" dirty="0"/>
          </a:p>
          <a:p>
            <a:pPr marL="177800" indent="-177800" algn="l">
              <a:lnSpc>
                <a:spcPct val="112000"/>
              </a:lnSpc>
              <a:spcAft>
                <a:spcPts val="800"/>
              </a:spcAft>
              <a:buSzPct val="100000"/>
              <a:buChar char="●"/>
            </a:pPr>
            <a:r>
              <a:rPr lang="en-US" sz="1350" dirty="0">
                <a:solidFill>
                  <a:srgbClr val="26313F"/>
                </a:solidFill>
                <a:latin typeface="Calibri" pitchFamily="34" charset="0"/>
                <a:ea typeface="Calibri" pitchFamily="34" charset="-122"/>
                <a:cs typeface="Calibri" pitchFamily="34" charset="-120"/>
              </a:rPr>
              <a:t>Buying property jointly without understanding what happens to it on your passing</a:t>
            </a:r>
            <a:endParaRPr lang="en-US" sz="1350" dirty="0"/>
          </a:p>
          <a:p>
            <a:pPr marL="177800" indent="-177800" algn="l">
              <a:lnSpc>
                <a:spcPct val="112000"/>
              </a:lnSpc>
              <a:spcAft>
                <a:spcPts val="800"/>
              </a:spcAft>
              <a:buSzPct val="100000"/>
              <a:buChar char="●"/>
            </a:pPr>
            <a:r>
              <a:rPr lang="en-US" sz="1350" dirty="0">
                <a:solidFill>
                  <a:srgbClr val="26313F"/>
                </a:solidFill>
                <a:latin typeface="Calibri" pitchFamily="34" charset="0"/>
                <a:ea typeface="Calibri" pitchFamily="34" charset="-122"/>
                <a:cs typeface="Calibri" pitchFamily="34" charset="-120"/>
              </a:rPr>
              <a:t>Establishing new structures where you don’t know how control passes</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56616"/>
            <a:ext cx="11094415" cy="548640"/>
          </a:xfrm>
          <a:prstGeom prst="rect">
            <a:avLst/>
          </a:prstGeom>
          <a:noFill/>
          <a:ln/>
        </p:spPr>
        <p:txBody>
          <a:bodyPr wrap="square" lIns="0" tIns="0" rIns="0" bIns="0" rtlCol="0" anchor="t"/>
          <a:lstStyle/>
          <a:p>
            <a:pPr marL="0" indent="0" algn="l">
              <a:buNone/>
            </a:pPr>
            <a:r>
              <a:rPr lang="en-US" sz="2800" b="1" dirty="0">
                <a:solidFill>
                  <a:srgbClr val="1B2A4A"/>
                </a:solidFill>
                <a:latin typeface="Cambria" pitchFamily="34" charset="0"/>
                <a:ea typeface="Cambria" pitchFamily="34" charset="-122"/>
                <a:cs typeface="Cambria" pitchFamily="34" charset="-120"/>
              </a:rPr>
              <a:t>Next steps</a:t>
            </a:r>
            <a:endParaRPr lang="en-US" sz="2800" dirty="0"/>
          </a:p>
        </p:txBody>
      </p:sp>
      <p:sp>
        <p:nvSpPr>
          <p:cNvPr id="3" name="Shape 1"/>
          <p:cNvSpPr/>
          <p:nvPr/>
        </p:nvSpPr>
        <p:spPr>
          <a:xfrm>
            <a:off x="548640" y="1024128"/>
            <a:ext cx="11094415" cy="0"/>
          </a:xfrm>
          <a:prstGeom prst="line">
            <a:avLst/>
          </a:prstGeom>
          <a:noFill/>
          <a:ln w="12700">
            <a:solidFill>
              <a:srgbClr val="D7DEEA"/>
            </a:solidFill>
            <a:prstDash val="solid"/>
          </a:ln>
        </p:spPr>
        <p:txBody>
          <a:bodyPr/>
          <a:lstStyle/>
          <a:p>
            <a:endParaRPr lang="en-AU"/>
          </a:p>
        </p:txBody>
      </p:sp>
      <p:sp>
        <p:nvSpPr>
          <p:cNvPr id="4" name="Text 2"/>
          <p:cNvSpPr/>
          <p:nvPr/>
        </p:nvSpPr>
        <p:spPr>
          <a:xfrm>
            <a:off x="548640" y="1371600"/>
            <a:ext cx="11094415" cy="3657600"/>
          </a:xfrm>
          <a:prstGeom prst="rect">
            <a:avLst/>
          </a:prstGeom>
          <a:noFill/>
          <a:ln/>
        </p:spPr>
        <p:txBody>
          <a:bodyPr wrap="square" lIns="0" tIns="0" rIns="0" bIns="0" rtlCol="0" anchor="t"/>
          <a:lstStyle/>
          <a:p>
            <a:pPr marL="177800" indent="-177800" algn="l">
              <a:lnSpc>
                <a:spcPct val="112000"/>
              </a:lnSpc>
              <a:spcAft>
                <a:spcPts val="1300"/>
              </a:spcAft>
              <a:buSzPct val="100000"/>
              <a:buChar char="●"/>
            </a:pPr>
            <a:r>
              <a:rPr lang="en-US" sz="1500" dirty="0">
                <a:solidFill>
                  <a:srgbClr val="26313F"/>
                </a:solidFill>
                <a:latin typeface="Calibri" pitchFamily="34" charset="0"/>
                <a:ea typeface="Calibri" pitchFamily="34" charset="-122"/>
                <a:cs typeface="Calibri" pitchFamily="34" charset="-120"/>
              </a:rPr>
              <a:t>Documents drafted; to-do list prepared</a:t>
            </a:r>
            <a:endParaRPr lang="en-US" sz="1500" dirty="0"/>
          </a:p>
          <a:p>
            <a:pPr marL="177800" indent="-177800" algn="l">
              <a:lnSpc>
                <a:spcPct val="112000"/>
              </a:lnSpc>
              <a:spcAft>
                <a:spcPts val="1300"/>
              </a:spcAft>
              <a:buSzPct val="100000"/>
              <a:buChar char="●"/>
            </a:pPr>
            <a:r>
              <a:rPr lang="en-US" sz="1500" dirty="0">
                <a:solidFill>
                  <a:srgbClr val="26313F"/>
                </a:solidFill>
                <a:latin typeface="Calibri" pitchFamily="34" charset="0"/>
                <a:ea typeface="Calibri" pitchFamily="34" charset="-122"/>
                <a:cs typeface="Calibri" pitchFamily="34" charset="-120"/>
              </a:rPr>
              <a:t>Second meeting to explain documents, answer queries, or make additional changes</a:t>
            </a:r>
            <a:endParaRPr lang="en-US" sz="1500" dirty="0"/>
          </a:p>
          <a:p>
            <a:pPr marL="177800" indent="-177800" algn="l">
              <a:lnSpc>
                <a:spcPct val="112000"/>
              </a:lnSpc>
              <a:spcAft>
                <a:spcPts val="1300"/>
              </a:spcAft>
              <a:buSzPct val="100000"/>
              <a:buChar char="●"/>
            </a:pPr>
            <a:r>
              <a:rPr lang="en-US" sz="1500" dirty="0">
                <a:solidFill>
                  <a:srgbClr val="26313F"/>
                </a:solidFill>
                <a:latin typeface="Calibri" pitchFamily="34" charset="0"/>
                <a:ea typeface="Calibri" pitchFamily="34" charset="-122"/>
                <a:cs typeface="Calibri" pitchFamily="34" charset="-120"/>
              </a:rPr>
              <a:t>Second meeting can walk through documents, as they may be very detailed</a:t>
            </a:r>
            <a:endParaRPr lang="en-US" sz="1500" dirty="0"/>
          </a:p>
          <a:p>
            <a:pPr marL="177800" indent="-177800" algn="l">
              <a:lnSpc>
                <a:spcPct val="112000"/>
              </a:lnSpc>
              <a:spcAft>
                <a:spcPts val="1300"/>
              </a:spcAft>
              <a:buSzPct val="100000"/>
              <a:buChar char="●"/>
            </a:pPr>
            <a:r>
              <a:rPr lang="en-US" sz="1500" dirty="0">
                <a:solidFill>
                  <a:srgbClr val="26313F"/>
                </a:solidFill>
                <a:latin typeface="Calibri" pitchFamily="34" charset="0"/>
                <a:ea typeface="Calibri" pitchFamily="34" charset="-122"/>
                <a:cs typeface="Calibri" pitchFamily="34" charset="-120"/>
              </a:rPr>
              <a:t>Reviewed the documents with no changes needed? Let us know in advance and we can arrange signing at the second meeting</a:t>
            </a:r>
            <a:endParaRPr lang="en-US" sz="1500" dirty="0"/>
          </a:p>
          <a:p>
            <a:pPr marL="177800" indent="-177800" algn="l">
              <a:lnSpc>
                <a:spcPct val="112000"/>
              </a:lnSpc>
              <a:spcAft>
                <a:spcPts val="1300"/>
              </a:spcAft>
              <a:buSzPct val="100000"/>
              <a:buChar char="●"/>
            </a:pPr>
            <a:r>
              <a:rPr lang="en-US" sz="1500" dirty="0">
                <a:solidFill>
                  <a:srgbClr val="26313F"/>
                </a:solidFill>
                <a:latin typeface="Calibri" pitchFamily="34" charset="0"/>
                <a:ea typeface="Calibri" pitchFamily="34" charset="-122"/>
                <a:cs typeface="Calibri" pitchFamily="34" charset="-120"/>
              </a:rPr>
              <a:t>Further items in the to-do list may still need to be actioned</a:t>
            </a:r>
            <a:endParaRPr lang="en-US" sz="1500" dirty="0"/>
          </a:p>
        </p:txBody>
      </p:sp>
      <p:sp>
        <p:nvSpPr>
          <p:cNvPr id="5" name="Text 3"/>
          <p:cNvSpPr/>
          <p:nvPr/>
        </p:nvSpPr>
        <p:spPr>
          <a:xfrm>
            <a:off x="548640" y="5074920"/>
            <a:ext cx="11094415" cy="320040"/>
          </a:xfrm>
          <a:prstGeom prst="rect">
            <a:avLst/>
          </a:prstGeom>
          <a:noFill/>
          <a:ln/>
        </p:spPr>
        <p:txBody>
          <a:bodyPr wrap="square" lIns="0" tIns="0" rIns="0" bIns="0" rtlCol="0" anchor="ctr"/>
          <a:lstStyle/>
          <a:p>
            <a:pPr marL="0" indent="0">
              <a:buNone/>
            </a:pPr>
            <a:r>
              <a:rPr lang="en-US" sz="1500" b="1" dirty="0">
                <a:solidFill>
                  <a:srgbClr val="1B2A4A"/>
                </a:solidFill>
                <a:latin typeface="Cambria" pitchFamily="34" charset="0"/>
                <a:ea typeface="Cambria" pitchFamily="34" charset="-122"/>
                <a:cs typeface="Cambria" pitchFamily="34" charset="-120"/>
              </a:rPr>
              <a:t>Second meeting</a:t>
            </a:r>
            <a:endParaRPr lang="en-US" sz="15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48640" y="5440680"/>
          <a:ext cx="11094415" cy="822960"/>
        </p:xfrm>
        <a:graphic>
          <a:graphicData uri="http://schemas.openxmlformats.org/drawingml/2006/table">
            <a:tbl>
              <a:tblPr/>
              <a:tblGrid>
                <a:gridCol w="5547208">
                  <a:extLst>
                    <a:ext uri="{9D8B030D-6E8A-4147-A177-3AD203B41FA5}">
                      <a16:colId xmlns:a16="http://schemas.microsoft.com/office/drawing/2014/main" val="20000"/>
                    </a:ext>
                  </a:extLst>
                </a:gridCol>
                <a:gridCol w="5547208">
                  <a:extLst>
                    <a:ext uri="{9D8B030D-6E8A-4147-A177-3AD203B41FA5}">
                      <a16:colId xmlns:a16="http://schemas.microsoft.com/office/drawing/2014/main" val="20001"/>
                    </a:ext>
                  </a:extLst>
                </a:gridCol>
              </a:tblGrid>
              <a:tr h="411480">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Date</a:t>
                      </a:r>
                      <a:endParaRPr lang="en-US" sz="13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tc>
                  <a:txBody>
                    <a:bodyPr/>
                    <a:lstStyle/>
                    <a:p>
                      <a:pPr marL="0" indent="0" algn="l">
                        <a:buNone/>
                      </a:pPr>
                      <a:r>
                        <a:rPr lang="en-US" sz="1350" b="1" dirty="0">
                          <a:solidFill>
                            <a:srgbClr val="FFFFFF"/>
                          </a:solidFill>
                          <a:latin typeface="Calibri" pitchFamily="34" charset="0"/>
                          <a:ea typeface="Calibri" pitchFamily="34" charset="-122"/>
                          <a:cs typeface="Calibri" pitchFamily="34" charset="-120"/>
                        </a:rPr>
                        <a:t>Time</a:t>
                      </a:r>
                      <a:endParaRPr lang="en-US" sz="1350" dirty="0">
                        <a:latin typeface="Calibri" charset="0"/>
                        <a:ea typeface="Calibri" charset="0"/>
                        <a:cs typeface="Calibri" charset="0"/>
                      </a:endParaRPr>
                    </a:p>
                  </a:txBody>
                  <a:tcPr marL="101600" marR="101600" marT="50800" marB="50800" anchor="ctr">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1B2A4A"/>
                    </a:solidFill>
                  </a:tcPr>
                </a:tc>
                <a:extLst>
                  <a:ext uri="{0D108BD9-81ED-4DB2-BD59-A6C34878D82A}">
                    <a16:rowId xmlns:a16="http://schemas.microsoft.com/office/drawing/2014/main" val="10000"/>
                  </a:ext>
                </a:extLst>
              </a:tr>
              <a:tr h="411480">
                <a:tc>
                  <a:txBody>
                    <a:bodyPr/>
                    <a:lstStyle/>
                    <a:p>
                      <a:pPr marL="0" indent="0" algn="l">
                        <a:buNone/>
                      </a:pP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tc>
                  <a:txBody>
                    <a:bodyPr/>
                    <a:lstStyle/>
                    <a:p>
                      <a:pPr marL="0" indent="0" algn="l">
                        <a:buNone/>
                      </a:pPr>
                      <a:endParaRPr lang="en-US" sz="1300" dirty="0">
                        <a:latin typeface="Calibri" charset="0"/>
                        <a:ea typeface="Calibri" charset="0"/>
                        <a:cs typeface="Calibri" charset="0"/>
                      </a:endParaRPr>
                    </a:p>
                  </a:txBody>
                  <a:tcPr marL="101600" marR="101600" marT="50800" marB="50800">
                    <a:lnL w="9525" cap="flat" cmpd="sng" algn="ctr">
                      <a:solidFill>
                        <a:srgbClr val="D7DEEA"/>
                      </a:solidFill>
                      <a:prstDash val="solid"/>
                      <a:round/>
                      <a:headEnd type="none" w="med" len="med"/>
                      <a:tailEnd type="none" w="med" len="med"/>
                    </a:lnL>
                    <a:lnR w="9525" cap="flat" cmpd="sng" algn="ctr">
                      <a:solidFill>
                        <a:srgbClr val="D7DEEA"/>
                      </a:solidFill>
                      <a:prstDash val="solid"/>
                      <a:round/>
                      <a:headEnd type="none" w="med" len="med"/>
                      <a:tailEnd type="none" w="med" len="med"/>
                    </a:lnR>
                    <a:lnT w="9525" cap="flat" cmpd="sng" algn="ctr">
                      <a:solidFill>
                        <a:srgbClr val="D7DEEA"/>
                      </a:solidFill>
                      <a:prstDash val="solid"/>
                      <a:round/>
                      <a:headEnd type="none" w="med" len="med"/>
                      <a:tailEnd type="none" w="med" len="med"/>
                    </a:lnT>
                    <a:lnB w="9525" cap="flat" cmpd="sng" algn="ctr">
                      <a:solidFill>
                        <a:srgbClr val="D7DE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121D33"/>
        </a:solidFill>
        <a:effectLst/>
      </p:bgPr>
    </p:bg>
    <p:spTree>
      <p:nvGrpSpPr>
        <p:cNvPr id="1" name=""/>
        <p:cNvGrpSpPr/>
        <p:nvPr/>
      </p:nvGrpSpPr>
      <p:grpSpPr>
        <a:xfrm>
          <a:off x="0" y="0"/>
          <a:ext cx="0" cy="0"/>
          <a:chOff x="0" y="0"/>
          <a:chExt cx="0" cy="0"/>
        </a:xfrm>
      </p:grpSpPr>
      <p:sp>
        <p:nvSpPr>
          <p:cNvPr id="2" name="Shape 0"/>
          <p:cNvSpPr/>
          <p:nvPr/>
        </p:nvSpPr>
        <p:spPr>
          <a:xfrm>
            <a:off x="9265615" y="-1645920"/>
            <a:ext cx="4754880" cy="4754880"/>
          </a:xfrm>
          <a:prstGeom prst="ellipse">
            <a:avLst/>
          </a:prstGeom>
          <a:solidFill>
            <a:srgbClr val="1B2A4A">
              <a:alpha val="65000"/>
            </a:srgbClr>
          </a:solidFill>
          <a:ln/>
        </p:spPr>
        <p:txBody>
          <a:bodyPr/>
          <a:lstStyle/>
          <a:p>
            <a:endParaRPr lang="en-AU"/>
          </a:p>
        </p:txBody>
      </p:sp>
      <p:sp>
        <p:nvSpPr>
          <p:cNvPr id="3" name="Shape 1"/>
          <p:cNvSpPr/>
          <p:nvPr/>
        </p:nvSpPr>
        <p:spPr>
          <a:xfrm>
            <a:off x="-2011680" y="4480560"/>
            <a:ext cx="4023360" cy="4023360"/>
          </a:xfrm>
          <a:prstGeom prst="ellipse">
            <a:avLst/>
          </a:prstGeom>
          <a:solidFill>
            <a:srgbClr val="1B2A4A">
              <a:alpha val="65000"/>
            </a:srgbClr>
          </a:solidFill>
          <a:ln/>
        </p:spPr>
        <p:txBody>
          <a:bodyPr/>
          <a:lstStyle/>
          <a:p>
            <a:endParaRPr lang="en-AU"/>
          </a:p>
        </p:txBody>
      </p:sp>
      <p:sp>
        <p:nvSpPr>
          <p:cNvPr id="4" name="Shape 2"/>
          <p:cNvSpPr/>
          <p:nvPr/>
        </p:nvSpPr>
        <p:spPr>
          <a:xfrm>
            <a:off x="548640" y="2377440"/>
            <a:ext cx="640080" cy="91440"/>
          </a:xfrm>
          <a:prstGeom prst="rect">
            <a:avLst/>
          </a:prstGeom>
          <a:solidFill>
            <a:srgbClr val="AD8A52"/>
          </a:solidFill>
          <a:ln/>
        </p:spPr>
        <p:txBody>
          <a:bodyPr/>
          <a:lstStyle/>
          <a:p>
            <a:endParaRPr lang="en-AU"/>
          </a:p>
        </p:txBody>
      </p:sp>
      <p:sp>
        <p:nvSpPr>
          <p:cNvPr id="5" name="Text 3"/>
          <p:cNvSpPr/>
          <p:nvPr/>
        </p:nvSpPr>
        <p:spPr>
          <a:xfrm>
            <a:off x="548640" y="2514600"/>
            <a:ext cx="11094415" cy="822960"/>
          </a:xfrm>
          <a:prstGeom prst="rect">
            <a:avLst/>
          </a:prstGeom>
          <a:noFill/>
          <a:ln/>
        </p:spPr>
        <p:txBody>
          <a:bodyPr wrap="square" lIns="0" tIns="0" rIns="0" bIns="0" rtlCol="0" anchor="ctr"/>
          <a:lstStyle/>
          <a:p>
            <a:pPr marL="0" indent="0" algn="l">
              <a:buNone/>
            </a:pPr>
            <a:r>
              <a:rPr lang="en-US" sz="3600" b="1" dirty="0">
                <a:solidFill>
                  <a:srgbClr val="FFFFFF"/>
                </a:solidFill>
                <a:latin typeface="Cambria" pitchFamily="34" charset="0"/>
                <a:ea typeface="Cambria" pitchFamily="34" charset="-122"/>
                <a:cs typeface="Cambria" pitchFamily="34" charset="-120"/>
              </a:rPr>
              <a:t>Contact details</a:t>
            </a:r>
            <a:endParaRPr lang="en-US" sz="3600" dirty="0"/>
          </a:p>
        </p:txBody>
      </p:sp>
      <p:sp>
        <p:nvSpPr>
          <p:cNvPr id="6" name="Text 4"/>
          <p:cNvSpPr/>
          <p:nvPr/>
        </p:nvSpPr>
        <p:spPr>
          <a:xfrm>
            <a:off x="548640" y="3474720"/>
            <a:ext cx="11094415" cy="457200"/>
          </a:xfrm>
          <a:prstGeom prst="rect">
            <a:avLst/>
          </a:prstGeom>
          <a:noFill/>
          <a:ln/>
        </p:spPr>
        <p:txBody>
          <a:bodyPr wrap="square" lIns="0" tIns="0" rIns="0" bIns="0" rtlCol="0" anchor="ctr"/>
          <a:lstStyle/>
          <a:p>
            <a:pPr marL="0" indent="0" algn="l">
              <a:buNone/>
            </a:pPr>
            <a:r>
              <a:rPr lang="en-US" sz="2000" b="1" dirty="0">
                <a:solidFill>
                  <a:srgbClr val="C7AC7C"/>
                </a:solidFill>
                <a:latin typeface="Calibri" pitchFamily="34" charset="0"/>
                <a:ea typeface="Calibri" pitchFamily="34" charset="-122"/>
                <a:cs typeface="Calibri" pitchFamily="34" charset="-120"/>
              </a:rPr>
              <a:t>Darius Hii</a:t>
            </a:r>
            <a:endParaRPr lang="en-US" sz="2000" dirty="0"/>
          </a:p>
        </p:txBody>
      </p:sp>
      <p:sp>
        <p:nvSpPr>
          <p:cNvPr id="7" name="Text 5"/>
          <p:cNvSpPr/>
          <p:nvPr/>
        </p:nvSpPr>
        <p:spPr>
          <a:xfrm>
            <a:off x="548640" y="3931920"/>
            <a:ext cx="11094415" cy="365760"/>
          </a:xfrm>
          <a:prstGeom prst="rect">
            <a:avLst/>
          </a:prstGeom>
          <a:noFill/>
          <a:ln/>
        </p:spPr>
        <p:txBody>
          <a:bodyPr wrap="square" lIns="0" tIns="0" rIns="0" bIns="0" rtlCol="0" anchor="ctr"/>
          <a:lstStyle/>
          <a:p>
            <a:pPr marL="0" indent="0" algn="l">
              <a:buNone/>
            </a:pPr>
            <a:r>
              <a:rPr lang="en-US" sz="1400" dirty="0">
                <a:solidFill>
                  <a:srgbClr val="E9EDF4"/>
                </a:solidFill>
                <a:latin typeface="Calibri" pitchFamily="34" charset="0"/>
                <a:ea typeface="Calibri" pitchFamily="34" charset="-122"/>
                <a:cs typeface="Calibri" pitchFamily="34" charset="-120"/>
              </a:rPr>
              <a:t>Tax and estate planning lawyer; Chartered Tax Advisor; Director at Chat Legal</a:t>
            </a:r>
            <a:endParaRPr lang="en-US" sz="1400" dirty="0"/>
          </a:p>
        </p:txBody>
      </p:sp>
      <p:sp>
        <p:nvSpPr>
          <p:cNvPr id="8" name="Text 6"/>
          <p:cNvSpPr/>
          <p:nvPr/>
        </p:nvSpPr>
        <p:spPr>
          <a:xfrm>
            <a:off x="548640" y="4389120"/>
            <a:ext cx="11094415" cy="365760"/>
          </a:xfrm>
          <a:prstGeom prst="rect">
            <a:avLst/>
          </a:prstGeom>
          <a:noFill/>
          <a:ln/>
        </p:spPr>
        <p:txBody>
          <a:bodyPr wrap="square" lIns="0" tIns="0" rIns="0" bIns="0" rtlCol="0" anchor="ctr"/>
          <a:lstStyle/>
          <a:p>
            <a:pPr marL="0" indent="0" algn="l">
              <a:buNone/>
            </a:pPr>
            <a:r>
              <a:rPr lang="en-US" sz="1400" dirty="0">
                <a:solidFill>
                  <a:srgbClr val="E9EDF4"/>
                </a:solidFill>
                <a:latin typeface="Calibri" pitchFamily="34" charset="0"/>
                <a:ea typeface="Calibri" pitchFamily="34" charset="-122"/>
                <a:cs typeface="Calibri" pitchFamily="34" charset="-120"/>
              </a:rPr>
              <a:t>E: </a:t>
            </a:r>
            <a:r>
              <a:rPr lang="en-US" sz="1400" dirty="0">
                <a:solidFill>
                  <a:srgbClr val="FFFFFF"/>
                </a:solidFill>
                <a:latin typeface="Calibri" pitchFamily="34" charset="0"/>
                <a:ea typeface="Calibri" pitchFamily="34" charset="-122"/>
                <a:cs typeface="Calibri" pitchFamily="34" charset="-120"/>
              </a:rPr>
              <a:t>darius@chatlegal.com.au</a:t>
            </a:r>
            <a:r>
              <a:rPr lang="en-US" sz="1400" dirty="0">
                <a:solidFill>
                  <a:srgbClr val="E9EDF4"/>
                </a:solidFill>
                <a:latin typeface="Calibri" pitchFamily="34" charset="0"/>
                <a:ea typeface="Calibri" pitchFamily="34" charset="-122"/>
                <a:cs typeface="Calibri" pitchFamily="34" charset="-120"/>
              </a:rPr>
              <a:t>     P: </a:t>
            </a:r>
            <a:r>
              <a:rPr lang="en-US" sz="1400" dirty="0">
                <a:solidFill>
                  <a:srgbClr val="FFFFFF"/>
                </a:solidFill>
                <a:latin typeface="Calibri" pitchFamily="34" charset="0"/>
                <a:ea typeface="Calibri" pitchFamily="34" charset="-122"/>
                <a:cs typeface="Calibri" pitchFamily="34" charset="-120"/>
              </a:rPr>
              <a:t>0403 923 374</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3080</Words>
  <Application>Microsoft Office PowerPoint</Application>
  <PresentationFormat>Widescreen</PresentationFormat>
  <Paragraphs>401</Paragraphs>
  <Slides>35</Slides>
  <Notes>35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35</vt:i4>
      </vt:variant>
    </vt:vector>
  </HeadingPairs>
  <TitlesOfParts>
    <vt:vector size="39"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Darius Hii</cp:lastModifiedBy>
  <cp:revision>2</cp:revision>
  <dcterms:created xsi:type="dcterms:W3CDTF">2026-07-16T01:45:40Z</dcterms:created>
  <dcterms:modified xsi:type="dcterms:W3CDTF">2026-07-16T01:52:23Z</dcterms:modified>
</cp:coreProperties>
</file>